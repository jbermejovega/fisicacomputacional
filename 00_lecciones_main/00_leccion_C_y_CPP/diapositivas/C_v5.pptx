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rels" ContentType="application/vnd.openxmlformats-package.relationships+xml"/>
  <Default Extension="emf" ContentType="image/x-emf"/>
  <Default Extension="vml" ContentType="application/vnd.openxmlformats-officedocument.vmlDrawing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embeddings/oleObject1.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 autoCompressPictures="0">
  <p:sldMasterIdLst>
    <p:sldMasterId id="2147483648" r:id="rId1"/>
    <p:sldMasterId id="2147483649" r:id="rId2"/>
  </p:sldMasterIdLst>
  <p:notesMasterIdLst>
    <p:notesMasterId r:id="rId61"/>
  </p:notesMasterIdLst>
  <p:sldIdLst>
    <p:sldId id="256" r:id="rId3"/>
    <p:sldId id="31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314" r:id="rId12"/>
    <p:sldId id="313" r:id="rId13"/>
    <p:sldId id="264" r:id="rId14"/>
    <p:sldId id="265" r:id="rId15"/>
    <p:sldId id="266" r:id="rId16"/>
    <p:sldId id="267" r:id="rId17"/>
    <p:sldId id="268" r:id="rId18"/>
    <p:sldId id="315" r:id="rId19"/>
    <p:sldId id="270" r:id="rId20"/>
    <p:sldId id="281" r:id="rId21"/>
    <p:sldId id="271" r:id="rId22"/>
    <p:sldId id="273" r:id="rId23"/>
    <p:sldId id="274" r:id="rId24"/>
    <p:sldId id="275" r:id="rId25"/>
    <p:sldId id="276" r:id="rId26"/>
    <p:sldId id="277" r:id="rId27"/>
    <p:sldId id="278" r:id="rId28"/>
    <p:sldId id="280" r:id="rId29"/>
    <p:sldId id="279" r:id="rId30"/>
    <p:sldId id="287" r:id="rId31"/>
    <p:sldId id="282" r:id="rId32"/>
    <p:sldId id="283" r:id="rId33"/>
    <p:sldId id="284" r:id="rId34"/>
    <p:sldId id="285" r:id="rId35"/>
    <p:sldId id="288" r:id="rId36"/>
    <p:sldId id="289" r:id="rId37"/>
    <p:sldId id="290" r:id="rId38"/>
    <p:sldId id="310" r:id="rId39"/>
    <p:sldId id="291" r:id="rId40"/>
    <p:sldId id="311" r:id="rId41"/>
    <p:sldId id="292" r:id="rId42"/>
    <p:sldId id="293" r:id="rId43"/>
    <p:sldId id="299" r:id="rId44"/>
    <p:sldId id="294" r:id="rId45"/>
    <p:sldId id="295" r:id="rId46"/>
    <p:sldId id="296" r:id="rId47"/>
    <p:sldId id="297" r:id="rId48"/>
    <p:sldId id="298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17" r:id="rId58"/>
    <p:sldId id="308" r:id="rId59"/>
    <p:sldId id="309" r:id="rId60"/>
  </p:sldIdLst>
  <p:sldSz cx="9144000" cy="6858000" type="screen4x3"/>
  <p:notesSz cx="6858000" cy="9144000"/>
  <p:defaultTextStyle>
    <a:defPPr>
      <a:defRPr lang="en-US"/>
    </a:defPPr>
    <a:lvl1pPr algn="l" defTabSz="449263" rtl="0" fontAlgn="base" hangingPunct="0">
      <a:lnSpc>
        <a:spcPct val="87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1pPr>
    <a:lvl2pPr marL="457200" algn="l" defTabSz="449263" rtl="0" fontAlgn="base" hangingPunct="0">
      <a:lnSpc>
        <a:spcPct val="87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2pPr>
    <a:lvl3pPr marL="914400" algn="l" defTabSz="449263" rtl="0" fontAlgn="base" hangingPunct="0">
      <a:lnSpc>
        <a:spcPct val="87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3pPr>
    <a:lvl4pPr marL="1371600" algn="l" defTabSz="449263" rtl="0" fontAlgn="base" hangingPunct="0">
      <a:lnSpc>
        <a:spcPct val="87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4pPr>
    <a:lvl5pPr marL="1828800" algn="l" defTabSz="449263" rtl="0" fontAlgn="base" hangingPunct="0">
      <a:lnSpc>
        <a:spcPct val="87000"/>
      </a:lnSpc>
      <a:spcBef>
        <a:spcPct val="0"/>
      </a:spcBef>
      <a:spcAft>
        <a:spcPct val="0"/>
      </a:spcAft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5pPr>
    <a:lvl6pPr marL="2286000" algn="l" defTabSz="457200" rtl="0" eaLnBrk="1" latinLnBrk="0" hangingPunct="1"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6pPr>
    <a:lvl7pPr marL="2743200" algn="l" defTabSz="457200" rtl="0" eaLnBrk="1" latinLnBrk="0" hangingPunct="1"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7pPr>
    <a:lvl8pPr marL="3200400" algn="l" defTabSz="457200" rtl="0" eaLnBrk="1" latinLnBrk="0" hangingPunct="1"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8pPr>
    <a:lvl9pPr marL="3657600" algn="l" defTabSz="457200" rtl="0" eaLnBrk="1" latinLnBrk="0" hangingPunct="1">
      <a:defRPr sz="2400" kern="1200">
        <a:solidFill>
          <a:srgbClr val="000000"/>
        </a:solidFill>
        <a:latin typeface="Lucida Sans Unicode" charset="0"/>
        <a:ea typeface="ＭＳ Ｐゴシック" charset="0"/>
        <a:cs typeface="ＭＳ Ｐゴシック" charset="0"/>
        <a:sym typeface="Lucida Sans Unicode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41" autoAdjust="0"/>
    <p:restoredTop sz="94660"/>
  </p:normalViewPr>
  <p:slideViewPr>
    <p:cSldViewPr>
      <p:cViewPr>
        <p:scale>
          <a:sx n="100" d="100"/>
          <a:sy n="100" d="100"/>
        </p:scale>
        <p:origin x="-2104" y="-5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60" Type="http://schemas.openxmlformats.org/officeDocument/2006/relationships/slide" Target="slides/slide58.xml"/><Relationship Id="rId61" Type="http://schemas.openxmlformats.org/officeDocument/2006/relationships/notesMaster" Target="notesMasters/notesMaster1.xml"/><Relationship Id="rId62" Type="http://schemas.openxmlformats.org/officeDocument/2006/relationships/printerSettings" Target="printerSettings/printerSettings1.bin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smtClean="0">
                <a:sym typeface="Times New Roman" charset="0"/>
              </a:rPr>
              <a:t>Click to edit Master text styles</a:t>
            </a:r>
          </a:p>
          <a:p>
            <a:pPr lvl="1"/>
            <a:r>
              <a:rPr lang="en-US" noProof="0" smtClean="0">
                <a:sym typeface="Times New Roman" charset="0"/>
              </a:rPr>
              <a:t>Second level</a:t>
            </a:r>
          </a:p>
          <a:p>
            <a:pPr lvl="2"/>
            <a:r>
              <a:rPr lang="en-US" noProof="0" smtClean="0">
                <a:sym typeface="Times New Roman" charset="0"/>
              </a:rPr>
              <a:t>Third level</a:t>
            </a:r>
          </a:p>
          <a:p>
            <a:pPr lvl="3"/>
            <a:r>
              <a:rPr lang="en-US" noProof="0" smtClean="0">
                <a:sym typeface="Times New Roman" charset="0"/>
              </a:rPr>
              <a:t>Fourth level</a:t>
            </a:r>
          </a:p>
          <a:p>
            <a:pPr lvl="4"/>
            <a:r>
              <a:rPr lang="en-US" noProof="0" smtClean="0">
                <a:sym typeface="Times New Roman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3173583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49263" rtl="0" eaLnBrk="0" fontAlgn="base" hangingPunct="0">
      <a:spcBef>
        <a:spcPts val="400"/>
      </a:spcBef>
      <a:spcAft>
        <a:spcPct val="0"/>
      </a:spcAft>
      <a:defRPr sz="1200" kern="1200">
        <a:solidFill>
          <a:srgbClr val="000000"/>
        </a:solidFill>
        <a:latin typeface="Times New Roman" charset="0"/>
        <a:ea typeface="ＭＳ Ｐゴシック" charset="0"/>
        <a:cs typeface="Times New Roman" charset="0"/>
        <a:sym typeface="Times New Roman" charset="0"/>
      </a:defRPr>
    </a:lvl1pPr>
    <a:lvl2pPr indent="228600" algn="l" defTabSz="449263" rtl="0" eaLnBrk="0" fontAlgn="base" hangingPunct="0">
      <a:spcBef>
        <a:spcPts val="400"/>
      </a:spcBef>
      <a:spcAft>
        <a:spcPct val="0"/>
      </a:spcAft>
      <a:defRPr sz="1200" kern="1200">
        <a:solidFill>
          <a:srgbClr val="000000"/>
        </a:solidFill>
        <a:latin typeface="Times New Roman" charset="0"/>
        <a:ea typeface="Times New Roman" charset="0"/>
        <a:cs typeface="Times New Roman" charset="0"/>
        <a:sym typeface="Times New Roman" charset="0"/>
      </a:defRPr>
    </a:lvl2pPr>
    <a:lvl3pPr indent="457200" algn="l" defTabSz="449263" rtl="0" eaLnBrk="0" fontAlgn="base" hangingPunct="0">
      <a:spcBef>
        <a:spcPts val="400"/>
      </a:spcBef>
      <a:spcAft>
        <a:spcPct val="0"/>
      </a:spcAft>
      <a:defRPr sz="1200" kern="1200">
        <a:solidFill>
          <a:srgbClr val="000000"/>
        </a:solidFill>
        <a:latin typeface="Times New Roman" charset="0"/>
        <a:ea typeface="Times New Roman" charset="0"/>
        <a:cs typeface="Times New Roman" charset="0"/>
        <a:sym typeface="Times New Roman" charset="0"/>
      </a:defRPr>
    </a:lvl3pPr>
    <a:lvl4pPr indent="685800" algn="l" defTabSz="449263" rtl="0" eaLnBrk="0" fontAlgn="base" hangingPunct="0">
      <a:spcBef>
        <a:spcPts val="400"/>
      </a:spcBef>
      <a:spcAft>
        <a:spcPct val="0"/>
      </a:spcAft>
      <a:defRPr sz="1200" kern="1200">
        <a:solidFill>
          <a:srgbClr val="000000"/>
        </a:solidFill>
        <a:latin typeface="Times New Roman" charset="0"/>
        <a:ea typeface="Times New Roman" charset="0"/>
        <a:cs typeface="Times New Roman" charset="0"/>
        <a:sym typeface="Times New Roman" charset="0"/>
      </a:defRPr>
    </a:lvl4pPr>
    <a:lvl5pPr indent="914400" algn="l" defTabSz="449263" rtl="0" eaLnBrk="0" fontAlgn="base" hangingPunct="0">
      <a:spcBef>
        <a:spcPts val="400"/>
      </a:spcBef>
      <a:spcAft>
        <a:spcPct val="0"/>
      </a:spcAft>
      <a:defRPr sz="1200" kern="1200">
        <a:solidFill>
          <a:srgbClr val="000000"/>
        </a:solidFill>
        <a:latin typeface="Times New Roman" charset="0"/>
        <a:ea typeface="Times New Roman" charset="0"/>
        <a:cs typeface="Times New Roman" charset="0"/>
        <a:sym typeface="Times New Roman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s-ES_tradnl" smtClean="0"/>
              <a:t>Click to edit Master subtitle style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8E1756-7F74-1547-BCB2-66E8A346E8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84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BC9B004-ECFA-7D44-BC7F-99F56E2731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71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F29629-8318-5040-A44D-F8A9A7812F0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78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4963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4963"/>
            <a:ext cx="4037012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5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923DED6-6F34-3B4D-BC0F-859F9CFE37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7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DAACFD-5513-8B47-8BD8-AF6FB95477F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059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8ECC9A-DFED-7349-9E9D-C050B456686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936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3D8E54-7A1A-1846-92DB-2DFE33FA0B9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422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5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5133B7-1BA3-D143-A0BA-47FC322F5E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154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>
              <a:sym typeface="Lucida Sans Unicod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5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79E1E9-2E59-C642-BF39-F23C9682A4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263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8B6AD0-F3B7-C042-8CEB-F75B9BB308D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69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813" y="273050"/>
            <a:ext cx="2055812" cy="5856288"/>
          </a:xfrm>
        </p:spPr>
        <p:txBody>
          <a:bodyPr vert="eaVert"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3050"/>
            <a:ext cx="6018213" cy="5856288"/>
          </a:xfrm>
        </p:spPr>
        <p:txBody>
          <a:bodyPr vert="eaVert"/>
          <a:lstStyle/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CA1445-724F-2449-80A4-D8C646A5B49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8798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s-ES_tradnl" smtClean="0"/>
              <a:t>Click to edit Master subtitle style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08E381-73A7-4F4E-A74F-0F2482872CC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96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C1E62D-EDB2-1643-9D8E-CF401E8FA0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80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37FEDB1-EADC-1B49-B668-879F77F14FB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588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5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325838-FCD6-FF4F-8CAC-4E4B1309B0D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9880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7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75E238-317D-C146-8901-A1A527480D8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4769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364AED-EB34-FE4E-A9F6-2BCE8AA2B47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031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FFC70A-E9B6-3346-9F5A-661EB8C079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6166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5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84235C-79DC-F244-9CC4-BFB2391A13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6908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>
              <a:sym typeface="Lucida Sans Unicod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 smtClean="0"/>
              <a:t>Click to edit Master text styles</a:t>
            </a:r>
          </a:p>
        </p:txBody>
      </p:sp>
      <p:sp>
        <p:nvSpPr>
          <p:cNvPr id="5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90BC4D-918E-0B49-B58B-52BE9DA9EE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5681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38CE9C-B73C-104A-9FB7-33DB17AF49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8135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s-ES_tradnl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_tradnl" smtClean="0"/>
              <a:t>Click to edit Master text styles</a:t>
            </a:r>
          </a:p>
          <a:p>
            <a:pPr lvl="1"/>
            <a:r>
              <a:rPr lang="es-ES_tradnl" smtClean="0"/>
              <a:t>Second level</a:t>
            </a:r>
          </a:p>
          <a:p>
            <a:pPr lvl="2"/>
            <a:r>
              <a:rPr lang="es-ES_tradnl" smtClean="0"/>
              <a:t>Third level</a:t>
            </a:r>
          </a:p>
          <a:p>
            <a:pPr lvl="3"/>
            <a:r>
              <a:rPr lang="es-ES_tradnl" smtClean="0"/>
              <a:t>Fourth level</a:t>
            </a:r>
          </a:p>
          <a:p>
            <a:pPr lvl="4"/>
            <a:r>
              <a:rPr lang="es-ES_tradnl" smtClean="0"/>
              <a:t>Fifth level</a:t>
            </a:r>
            <a:endParaRPr lang="en-US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266720-59A1-264E-8167-7D601BECE42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283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_rels/slideMaster2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8226425" cy="1141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>
                <a:sym typeface="Lucida Sans Unicode" charset="0"/>
              </a:rPr>
              <a:t>Click to edit Master title style</a:t>
            </a:r>
          </a:p>
        </p:txBody>
      </p:sp>
      <p:sp>
        <p:nvSpPr>
          <p:cNvPr id="1026" name="Rectangle 2"/>
          <p:cNvSpPr>
            <a:spLocks noGrp="1"/>
          </p:cNvSpPr>
          <p:nvPr>
            <p:ph type="body" idx="1"/>
          </p:nvPr>
        </p:nvSpPr>
        <p:spPr bwMode="auto">
          <a:xfrm>
            <a:off x="457200" y="1604963"/>
            <a:ext cx="8226425" cy="452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>
                <a:sym typeface="Lucida Sans Unicode" charset="0"/>
              </a:rPr>
              <a:t>Click to edit Master text styles</a:t>
            </a:r>
          </a:p>
          <a:p>
            <a:pPr lvl="1"/>
            <a:r>
              <a:rPr lang="en-US">
                <a:sym typeface="Lucida Sans Unicode" charset="0"/>
              </a:rPr>
              <a:t>Second level</a:t>
            </a:r>
          </a:p>
          <a:p>
            <a:pPr lvl="2"/>
            <a:r>
              <a:rPr lang="en-US">
                <a:sym typeface="Lucida Sans Unicode" charset="0"/>
              </a:rPr>
              <a:t>Third level</a:t>
            </a:r>
          </a:p>
          <a:p>
            <a:pPr lvl="3"/>
            <a:r>
              <a:rPr lang="en-US">
                <a:sym typeface="Lucida Sans Unicode" charset="0"/>
              </a:rPr>
              <a:t>Fourth level</a:t>
            </a:r>
          </a:p>
          <a:p>
            <a:pPr lvl="4"/>
            <a:r>
              <a:rPr lang="en-US">
                <a:sym typeface="Lucida Sans Unicode" charset="0"/>
              </a:rPr>
              <a:t>Fifth level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sldNum" sz="quarter" idx="2"/>
          </p:nvPr>
        </p:nvSpPr>
        <p:spPr bwMode="auto">
          <a:xfrm>
            <a:off x="8491538" y="6246813"/>
            <a:ext cx="190500" cy="195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r" defTabSz="457200">
              <a:lnSpc>
                <a:spcPct val="93000"/>
              </a:lnSpc>
              <a:defRPr sz="1400">
                <a:solidFill>
                  <a:srgbClr val="0A0400"/>
                </a:solidFill>
                <a:latin typeface="Times New Roman" charset="0"/>
                <a:cs typeface="Times New Roman" charset="0"/>
                <a:sym typeface="Times New Roman" charset="0"/>
              </a:defRPr>
            </a:lvl1pPr>
          </a:lstStyle>
          <a:p>
            <a:pPr>
              <a:defRPr/>
            </a:pPr>
            <a:fld id="{FA5A1394-1173-2744-B1D0-A91B231E412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+mj-lt"/>
          <a:ea typeface="+mj-ea"/>
          <a:cs typeface="+mj-cs"/>
          <a:sym typeface="Lucida Sans Unicode" charset="0"/>
        </a:defRPr>
      </a:lvl1pPr>
      <a:lvl2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2pPr>
      <a:lvl3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3pPr>
      <a:lvl4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4pPr>
      <a:lvl5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5pPr>
      <a:lvl6pPr marL="4572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6pPr>
      <a:lvl7pPr marL="9144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7pPr>
      <a:lvl8pPr marL="13716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8pPr>
      <a:lvl9pPr marL="18288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9pPr>
    </p:titleStyle>
    <p:bodyStyle>
      <a:lvl1pPr marL="339725" indent="-339725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+mn-ea"/>
          <a:cs typeface="+mn-cs"/>
          <a:sym typeface="Lucida Sans Unicode" charset="0"/>
        </a:defRPr>
      </a:lvl1pPr>
      <a:lvl2pPr marL="742950" indent="-285750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Font typeface="Euphemia UCAS" charset="0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2pPr>
      <a:lvl3pPr marL="1233488" indent="-319088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•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3pPr>
      <a:lvl4pPr marL="1727200" indent="-355600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–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4pPr>
      <a:lvl5pPr marL="2228850" indent="-400050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5pPr>
      <a:lvl6pPr marL="26860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6pPr>
      <a:lvl7pPr marL="31432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7pPr>
      <a:lvl8pPr marL="36004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8pPr>
      <a:lvl9pPr marL="40576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/>
          <p:cNvSpPr>
            <a:spLocks/>
          </p:cNvSpPr>
          <p:nvPr/>
        </p:nvSpPr>
        <p:spPr bwMode="auto">
          <a:xfrm>
            <a:off x="914400" y="0"/>
            <a:ext cx="7999413" cy="182563"/>
          </a:xfrm>
          <a:prstGeom prst="rect">
            <a:avLst/>
          </a:prstGeom>
          <a:solidFill>
            <a:srgbClr val="D6D9CD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45720" rIns="45720" anchor="ctr"/>
          <a:lstStyle/>
          <a:p>
            <a:pPr algn="ctr" defTabSz="914400">
              <a:defRPr/>
            </a:pPr>
            <a:endParaRPr lang="en-US" sz="180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2050" name="Rectangle 2"/>
          <p:cNvSpPr>
            <a:spLocks/>
          </p:cNvSpPr>
          <p:nvPr/>
        </p:nvSpPr>
        <p:spPr bwMode="auto">
          <a:xfrm>
            <a:off x="914400" y="6675438"/>
            <a:ext cx="7999413" cy="182562"/>
          </a:xfrm>
          <a:prstGeom prst="rect">
            <a:avLst/>
          </a:prstGeom>
          <a:solidFill>
            <a:srgbClr val="E4E6D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45720" rIns="45720" anchor="ctr"/>
          <a:lstStyle/>
          <a:p>
            <a:pPr algn="ctr" defTabSz="914400">
              <a:defRPr/>
            </a:pPr>
            <a:endParaRPr lang="en-US" sz="180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2051" name="Rectangle 3"/>
          <p:cNvSpPr>
            <a:spLocks noGrp="1"/>
          </p:cNvSpPr>
          <p:nvPr>
            <p:ph type="sldNum" sz="quarter" idx="2"/>
          </p:nvPr>
        </p:nvSpPr>
        <p:spPr bwMode="auto">
          <a:xfrm>
            <a:off x="8909050" y="6642100"/>
            <a:ext cx="21748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none" lIns="45720" tIns="45720" rIns="45720" bIns="45720" numCol="1" anchor="ctr" anchorCtr="0" compatLnSpc="1">
            <a:prstTxWarp prst="textNoShape">
              <a:avLst/>
            </a:prstTxWarp>
          </a:bodyPr>
          <a:lstStyle>
            <a:lvl1pPr algn="ctr" defTabSz="914400">
              <a:defRPr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defRPr>
            </a:lvl1pPr>
          </a:lstStyle>
          <a:p>
            <a:pPr>
              <a:defRPr/>
            </a:pPr>
            <a:fld id="{05E99592-0A84-694C-B010-4B86B6F6BB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+mj-lt"/>
          <a:ea typeface="+mj-ea"/>
          <a:cs typeface="+mj-cs"/>
          <a:sym typeface="Lucida Sans Unicode" charset="0"/>
        </a:defRPr>
      </a:lvl1pPr>
      <a:lvl2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2pPr>
      <a:lvl3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3pPr>
      <a:lvl4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4pPr>
      <a:lvl5pPr algn="ctr" defTabSz="449263" rtl="0" eaLnBrk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5pPr>
      <a:lvl6pPr marL="4572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6pPr>
      <a:lvl7pPr marL="9144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7pPr>
      <a:lvl8pPr marL="13716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8pPr>
      <a:lvl9pPr marL="1828800" algn="ctr" defTabSz="449263" rtl="0" fontAlgn="base" hangingPunct="0">
        <a:lnSpc>
          <a:spcPct val="87000"/>
        </a:lnSpc>
        <a:spcBef>
          <a:spcPct val="0"/>
        </a:spcBef>
        <a:spcAft>
          <a:spcPct val="0"/>
        </a:spcAft>
        <a:defRPr sz="4000">
          <a:solidFill>
            <a:srgbClr val="F8330C"/>
          </a:solidFill>
          <a:latin typeface="Lucida Sans Unicode" charset="0"/>
          <a:ea typeface="ＭＳ Ｐゴシック" charset="0"/>
          <a:cs typeface="Lucida Sans Unicode" charset="0"/>
          <a:sym typeface="Lucida Sans Unicode" charset="0"/>
        </a:defRPr>
      </a:lvl9pPr>
    </p:titleStyle>
    <p:bodyStyle>
      <a:lvl1pPr marL="339725" indent="-339725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+mn-ea"/>
          <a:cs typeface="+mn-cs"/>
          <a:sym typeface="Lucida Sans Unicode" charset="0"/>
        </a:defRPr>
      </a:lvl1pPr>
      <a:lvl2pPr marL="742950" indent="-285750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Font typeface="Euphemia UCAS" charset="0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2pPr>
      <a:lvl3pPr marL="1233488" indent="-319088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•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3pPr>
      <a:lvl4pPr marL="1727200" indent="-355600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–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4pPr>
      <a:lvl5pPr marL="2228850" indent="-400050" algn="l" defTabSz="449263" rtl="0" eaLnBrk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5pPr>
      <a:lvl6pPr marL="26860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6pPr>
      <a:lvl7pPr marL="31432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7pPr>
      <a:lvl8pPr marL="36004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8pPr>
      <a:lvl9pPr marL="4057650" indent="-400050" algn="l" defTabSz="449263" rtl="0" fontAlgn="base" hangingPunct="0">
        <a:lnSpc>
          <a:spcPct val="87000"/>
        </a:lnSpc>
        <a:spcBef>
          <a:spcPts val="700"/>
        </a:spcBef>
        <a:spcAft>
          <a:spcPct val="0"/>
        </a:spcAft>
        <a:buClr>
          <a:srgbClr val="660066"/>
        </a:buClr>
        <a:buSzPct val="100000"/>
        <a:buFont typeface="Euphemia UCAS" charset="0"/>
        <a:buChar char="»"/>
        <a:defRPr sz="2800">
          <a:solidFill>
            <a:srgbClr val="660066"/>
          </a:solidFill>
          <a:latin typeface="+mn-lt"/>
          <a:ea typeface="Lucida Sans Unicode" charset="0"/>
          <a:cs typeface="+mn-cs"/>
          <a:sym typeface="Lucida Sans Unicod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emf"/><Relationship Id="rId3" Type="http://schemas.openxmlformats.org/officeDocument/2006/relationships/image" Target="../media/image9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jp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mailto:https://es.wikipedia.org/wiki/ASCII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jp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e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4" Type="http://schemas.openxmlformats.org/officeDocument/2006/relationships/image" Target="../media/image14.emf"/><Relationship Id="rId1" Type="http://schemas.openxmlformats.org/officeDocument/2006/relationships/vmlDrawing" Target="../drawings/vmlDrawing1.vml"/><Relationship Id="rId2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emf"/><Relationship Id="rId3" Type="http://schemas.openxmlformats.org/officeDocument/2006/relationships/image" Target="../media/image19.emf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mailto:http://www.cs.utah.edu/~gk/class/6964/1/src/nrutil.c" TargetMode="Externa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1" Type="http://schemas.openxmlformats.org/officeDocument/2006/relationships/slideLayout" Target="../slideLayouts/slideLayout13.xml"/><Relationship Id="rId2" Type="http://schemas.openxmlformats.org/officeDocument/2006/relationships/hyperlink" Target="mailto:http://www.ime.usp.br/~pf/Kernighan-Ritchie/C-Programming-Ebook.pdf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5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9.emf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Rectangle 1"/>
          <p:cNvSpPr>
            <a:spLocks/>
          </p:cNvSpPr>
          <p:nvPr/>
        </p:nvSpPr>
        <p:spPr bwMode="auto">
          <a:xfrm>
            <a:off x="6372225" y="5949950"/>
            <a:ext cx="2851150" cy="649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>
            <a:spAutoFit/>
          </a:bodyPr>
          <a:lstStyle/>
          <a:p>
            <a:pPr defTabSz="914400">
              <a:lnSpc>
                <a:spcPct val="100000"/>
              </a:lnSpc>
              <a:tabLst>
                <a:tab pos="444500" algn="l"/>
                <a:tab pos="889000" algn="l"/>
                <a:tab pos="1333500" algn="l"/>
                <a:tab pos="1790700" algn="l"/>
                <a:tab pos="2235200" algn="l"/>
                <a:tab pos="2692400" algn="l"/>
                <a:tab pos="3136900" algn="l"/>
                <a:tab pos="3581400" algn="l"/>
                <a:tab pos="4038600" algn="l"/>
                <a:tab pos="4483100" algn="l"/>
                <a:tab pos="4927600" algn="l"/>
                <a:tab pos="5384800" algn="l"/>
                <a:tab pos="5829300" algn="l"/>
                <a:tab pos="6286500" algn="l"/>
                <a:tab pos="6731000" algn="l"/>
                <a:tab pos="7175500" algn="l"/>
                <a:tab pos="7632700" algn="l"/>
                <a:tab pos="8077200" algn="l"/>
                <a:tab pos="8521700" algn="l"/>
                <a:tab pos="8978900" algn="l"/>
              </a:tabLst>
              <a:defRPr/>
            </a:pPr>
            <a:r>
              <a:rPr lang="en-US" sz="1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Física Computacional</a:t>
            </a:r>
          </a:p>
          <a:p>
            <a:pPr defTabSz="914400">
              <a:lnSpc>
                <a:spcPct val="100000"/>
              </a:lnSpc>
              <a:tabLst>
                <a:tab pos="444500" algn="l"/>
                <a:tab pos="889000" algn="l"/>
                <a:tab pos="1333500" algn="l"/>
                <a:tab pos="1790700" algn="l"/>
                <a:tab pos="2235200" algn="l"/>
                <a:tab pos="2692400" algn="l"/>
                <a:tab pos="3136900" algn="l"/>
                <a:tab pos="3581400" algn="l"/>
                <a:tab pos="4038600" algn="l"/>
                <a:tab pos="4483100" algn="l"/>
                <a:tab pos="4927600" algn="l"/>
                <a:tab pos="5384800" algn="l"/>
                <a:tab pos="5829300" algn="l"/>
                <a:tab pos="6286500" algn="l"/>
                <a:tab pos="6731000" algn="l"/>
                <a:tab pos="7175500" algn="l"/>
                <a:tab pos="7632700" algn="l"/>
                <a:tab pos="8077200" algn="l"/>
                <a:tab pos="8521700" algn="l"/>
                <a:tab pos="8978900" algn="l"/>
              </a:tabLst>
              <a:defRPr/>
            </a:pPr>
            <a:r>
              <a:rPr lang="en-US" sz="1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Universidad de Granada</a:t>
            </a:r>
          </a:p>
        </p:txBody>
      </p:sp>
      <p:sp>
        <p:nvSpPr>
          <p:cNvPr id="4098" name="Rectangle 2"/>
          <p:cNvSpPr>
            <a:spLocks/>
          </p:cNvSpPr>
          <p:nvPr/>
        </p:nvSpPr>
        <p:spPr bwMode="auto">
          <a:xfrm>
            <a:off x="224846" y="1989138"/>
            <a:ext cx="8767334" cy="17189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>
            <a:spAutoFit/>
          </a:bodyPr>
          <a:lstStyle/>
          <a:p>
            <a:pPr algn="ctr" defTabSz="914400">
              <a:defRPr/>
            </a:pPr>
            <a:r>
              <a:rPr lang="en-US" sz="6000" dirty="0" smtClean="0">
                <a:solidFill>
                  <a:srgbClr val="595959"/>
                </a:solidFill>
                <a:cs typeface="Lucida Sans Unicode" charset="0"/>
              </a:rPr>
              <a:t>C</a:t>
            </a:r>
          </a:p>
          <a:p>
            <a:pPr algn="ctr" defTabSz="914400">
              <a:defRPr/>
            </a:pPr>
            <a:r>
              <a:rPr lang="en-US" sz="6000" dirty="0" err="1" smtClean="0">
                <a:solidFill>
                  <a:srgbClr val="595959"/>
                </a:solidFill>
                <a:cs typeface="Lucida Sans Unicode" charset="0"/>
              </a:rPr>
              <a:t>Una</a:t>
            </a:r>
            <a:r>
              <a:rPr lang="en-US" sz="6000" dirty="0" smtClean="0">
                <a:solidFill>
                  <a:srgbClr val="595959"/>
                </a:solidFill>
                <a:cs typeface="Lucida Sans Unicode" charset="0"/>
              </a:rPr>
              <a:t> </a:t>
            </a:r>
            <a:r>
              <a:rPr lang="en-US" sz="6000" dirty="0" err="1">
                <a:solidFill>
                  <a:srgbClr val="595959"/>
                </a:solidFill>
                <a:cs typeface="Lucida Sans Unicode" charset="0"/>
              </a:rPr>
              <a:t>breve</a:t>
            </a:r>
            <a:r>
              <a:rPr lang="en-US" sz="6000" dirty="0">
                <a:solidFill>
                  <a:srgbClr val="595959"/>
                </a:solidFill>
                <a:cs typeface="Lucida Sans Unicode" charset="0"/>
              </a:rPr>
              <a:t> </a:t>
            </a:r>
            <a:r>
              <a:rPr lang="en-US" sz="6000" dirty="0" err="1">
                <a:solidFill>
                  <a:srgbClr val="595959"/>
                </a:solidFill>
                <a:cs typeface="Lucida Sans Unicode" charset="0"/>
              </a:rPr>
              <a:t>introducción</a:t>
            </a:r>
            <a:endParaRPr lang="en-US" sz="6000" dirty="0">
              <a:solidFill>
                <a:srgbClr val="595959"/>
              </a:solidFill>
              <a:cs typeface="Lucida Sans Unicode" charset="0"/>
            </a:endParaRPr>
          </a:p>
        </p:txBody>
      </p:sp>
    </p:spTree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Bibliografía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</p:txBody>
      </p:sp>
      <p:sp>
        <p:nvSpPr>
          <p:cNvPr id="5122" name="Rectangle 2"/>
          <p:cNvSpPr>
            <a:spLocks noGrp="1"/>
          </p:cNvSpPr>
          <p:nvPr>
            <p:ph type="body" idx="4294967295"/>
          </p:nvPr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/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2000" i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2000" i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lenguaje</a:t>
            </a:r>
            <a:r>
              <a:rPr lang="en-US" sz="2000" i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2000" i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programación</a:t>
            </a:r>
            <a:r>
              <a:rPr lang="en-US" sz="2000" i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</a:t>
            </a:r>
            <a:r>
              <a:rPr lang="en-US" sz="2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B. W. Kernighan y D.M. Ritchie. Prentice-Hall.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20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2000" i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Numerical Recipes in C. The Art of Scientific Computing. </a:t>
            </a:r>
            <a:r>
              <a:rPr lang="en-US" sz="2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W. H. Press, S.A. </a:t>
            </a:r>
            <a:r>
              <a:rPr lang="en-US" sz="20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Teukolsky</a:t>
            </a:r>
            <a:r>
              <a:rPr lang="en-US" sz="2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W.T. </a:t>
            </a:r>
            <a:r>
              <a:rPr lang="en-US" sz="20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Vetterling</a:t>
            </a:r>
            <a:r>
              <a:rPr lang="en-US" sz="20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2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y B. P. Flannery. Cambridge University Press. 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027916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Estructura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curso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2" name="Rectangle 2"/>
          <p:cNvSpPr>
            <a:spLocks noGrp="1"/>
          </p:cNvSpPr>
          <p:nvPr>
            <p:ph type="body" idx="4294967295"/>
          </p:nvPr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/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Introducción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estructura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Variables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aritméticas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iteracciones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bucles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Vectores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Introducción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2" name="Rectangle 2"/>
          <p:cNvSpPr>
            <a:spLocks noGrp="1"/>
          </p:cNvSpPr>
          <p:nvPr>
            <p:ph type="body" idx="4294967295"/>
          </p:nvPr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/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lenguaje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medio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nivel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creado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Dennis M. Ritchie entre 1969 y 1972 en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laboratorios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Bell. 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objetivo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era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sistemas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operativos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primera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vez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crear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Unix.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muy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utilizados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aplicaciones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ingeniería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robótica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cibernética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Big Data,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aeronáutica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ciencia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física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matemáticas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estadística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química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C++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creado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los 80’s con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objetivo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extender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lenguaje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orientada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objetos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Permite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redefinir los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operadores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crear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nuevos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tipos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multitud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librerías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científicas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C/C++ (Numerical Recipes, ARPACK, 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GSL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…)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4271605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Programas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2" name="Rectangle 2"/>
          <p:cNvSpPr>
            <a:spLocks noGrp="1"/>
          </p:cNvSpPr>
          <p:nvPr>
            <p:ph type="body" idx="4294967295"/>
          </p:nvPr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/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lista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instrucciones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permiten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ordenador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resolver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problema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El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problema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a resolver se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rompe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en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partes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que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definen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estructura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: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problema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complejo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original al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principio del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programa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las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partes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sencillas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más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pequeñas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al final.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FF0000"/>
                </a:solidFill>
                <a:latin typeface="Century Gothic" charset="0"/>
                <a:cs typeface="Century Gothic" charset="0"/>
              </a:rPr>
              <a:t>Divide et </a:t>
            </a:r>
            <a:r>
              <a:rPr lang="en-US" sz="1600" dirty="0" err="1">
                <a:solidFill>
                  <a:srgbClr val="FF0000"/>
                </a:solidFill>
                <a:latin typeface="Century Gothic" charset="0"/>
                <a:cs typeface="Century Gothic" charset="0"/>
              </a:rPr>
              <a:t>impera</a:t>
            </a:r>
            <a:r>
              <a:rPr lang="en-US" sz="1600" dirty="0">
                <a:solidFill>
                  <a:srgbClr val="FF0000"/>
                </a:solidFill>
                <a:latin typeface="Century Gothic" charset="0"/>
                <a:cs typeface="Century Gothic" charset="0"/>
              </a:rPr>
              <a:t>: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divide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vencerás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(Julio César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)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Los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pasos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para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realizar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programa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son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: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Examinar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el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problema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y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dividirlo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en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varias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partes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.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Examinar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cada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parte y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dividirla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en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partes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más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pequeñas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.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Establecer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un </a:t>
            </a:r>
            <a:r>
              <a:rPr lang="en-US" sz="1400" b="1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plan </a:t>
            </a:r>
            <a:r>
              <a:rPr lang="en-US" sz="1400" b="1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lógico</a:t>
            </a:r>
            <a:r>
              <a:rPr lang="en-US" sz="1400" b="1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que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una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todas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las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partes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.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Escribir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el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programa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b="1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utilizando</a:t>
            </a:r>
            <a:r>
              <a:rPr lang="en-US" sz="1400" b="1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400" b="1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funciones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.</a:t>
            </a:r>
            <a:endParaRPr lang="en-US" sz="1400" dirty="0">
              <a:solidFill>
                <a:srgbClr val="595959"/>
              </a:solidFill>
              <a:latin typeface="Century Gothic" charset="0"/>
              <a:ea typeface="+mn-ea"/>
              <a:cs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Comprobar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el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programa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: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esto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un </a:t>
            </a:r>
            <a:r>
              <a:rPr lang="en-US" sz="1400" dirty="0" smtClean="0">
                <a:solidFill>
                  <a:srgbClr val="FF0000"/>
                </a:solidFill>
                <a:latin typeface="Century Gothic" charset="0"/>
                <a:ea typeface="+mn-ea"/>
                <a:cs typeface="Century Gothic" charset="0"/>
              </a:rPr>
              <a:t>arte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.</a:t>
            </a:r>
            <a:endParaRPr lang="en-US" sz="1400" dirty="0">
              <a:solidFill>
                <a:srgbClr val="595959"/>
              </a:solidFill>
              <a:latin typeface="Century Gothic" charset="0"/>
              <a:ea typeface="+mn-ea"/>
              <a:cs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3072894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Estructura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de un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2" name="Rectangle 2"/>
          <p:cNvSpPr>
            <a:spLocks noGrp="1"/>
          </p:cNvSpPr>
          <p:nvPr>
            <p:ph type="body" idx="4294967295"/>
          </p:nvPr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/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divide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encabezado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main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otras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línea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ejecuci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ón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terminar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</a:t>
            </a:r>
            <a:endParaRPr lang="en-US" sz="16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comentarios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son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traducidos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compilador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empiezan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//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están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entre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/*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y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*/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¡¡Hay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muchos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comentarios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!!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definir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constantes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antes de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main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mediante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#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define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aplican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cualquier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6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3-04 at 10.48.5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2492896"/>
            <a:ext cx="2425700" cy="172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44008" y="2492896"/>
            <a:ext cx="1364814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Biblioteca</a:t>
            </a:r>
            <a:r>
              <a:rPr lang="en-US" sz="1000" dirty="0" smtClean="0">
                <a:solidFill>
                  <a:srgbClr val="0000FF"/>
                </a:solidFill>
              </a:rPr>
              <a:t> </a:t>
            </a:r>
            <a:r>
              <a:rPr lang="en-US" sz="1000" dirty="0" err="1" smtClean="0">
                <a:solidFill>
                  <a:srgbClr val="0000FF"/>
                </a:solidFill>
              </a:rPr>
              <a:t>estándar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788024" y="2852936"/>
            <a:ext cx="1720042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Definición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constantes</a:t>
            </a:r>
            <a:endParaRPr lang="en-US" sz="1000" dirty="0">
              <a:solidFill>
                <a:srgbClr val="0000FF"/>
              </a:solidFill>
            </a:endParaRPr>
          </a:p>
        </p:txBody>
      </p:sp>
      <p:cxnSp>
        <p:nvCxnSpPr>
          <p:cNvPr id="12" name="Straight Arrow Connector 11"/>
          <p:cNvCxnSpPr/>
          <p:nvPr/>
        </p:nvCxnSpPr>
        <p:spPr bwMode="auto">
          <a:xfrm>
            <a:off x="3995936" y="2636912"/>
            <a:ext cx="648072" cy="0"/>
          </a:xfrm>
          <a:prstGeom prst="straightConnector1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14" name="Straight Arrow Connector 13"/>
          <p:cNvCxnSpPr/>
          <p:nvPr/>
        </p:nvCxnSpPr>
        <p:spPr bwMode="auto">
          <a:xfrm>
            <a:off x="4427984" y="2924944"/>
            <a:ext cx="360040" cy="0"/>
          </a:xfrm>
          <a:prstGeom prst="straightConnector1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6" name="Right Bracket 15"/>
          <p:cNvSpPr/>
          <p:nvPr/>
        </p:nvSpPr>
        <p:spPr bwMode="auto">
          <a:xfrm>
            <a:off x="4716016" y="3140968"/>
            <a:ext cx="72008" cy="1080120"/>
          </a:xfrm>
          <a:prstGeom prst="rightBracket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45720" tIns="45720" rIns="4572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49263" rtl="0" eaLnBrk="1" fontAlgn="base" latinLnBrk="0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Lucida Sans Unicode" charset="0"/>
              <a:ea typeface="ＭＳ Ｐゴシック" charset="0"/>
              <a:cs typeface="Lucida Sans Unicode" charset="0"/>
              <a:sym typeface="Lucida Sans Unicode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60032" y="3501008"/>
            <a:ext cx="1686667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Función</a:t>
            </a:r>
            <a:r>
              <a:rPr lang="en-US" sz="1000" dirty="0" smtClean="0">
                <a:solidFill>
                  <a:srgbClr val="0000FF"/>
                </a:solidFill>
              </a:rPr>
              <a:t> principal (main)</a:t>
            </a:r>
            <a:endParaRPr lang="en-US" sz="10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886953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Estructura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de un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7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2-22 at 17.10.3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628800"/>
            <a:ext cx="3350005" cy="4440244"/>
          </a:xfrm>
          <a:prstGeom prst="rect">
            <a:avLst/>
          </a:prstGeom>
        </p:spPr>
      </p:pic>
      <p:pic>
        <p:nvPicPr>
          <p:cNvPr id="5" name="Picture 4" descr="Screen Shot 2016-02-22 at 17.11.25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064" y="1628800"/>
            <a:ext cx="3227439" cy="446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2417" y="6165304"/>
            <a:ext cx="3650358" cy="526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err="1" smtClean="0"/>
              <a:t>Programador</a:t>
            </a:r>
            <a:r>
              <a:rPr lang="en-US" sz="1600" dirty="0" smtClean="0"/>
              <a:t> con </a:t>
            </a:r>
            <a:r>
              <a:rPr lang="en-US" sz="1600" dirty="0" err="1" smtClean="0"/>
              <a:t>poca</a:t>
            </a:r>
            <a:r>
              <a:rPr lang="en-US" sz="1600" dirty="0" smtClean="0"/>
              <a:t> </a:t>
            </a:r>
            <a:r>
              <a:rPr lang="en-US" sz="1600" dirty="0" err="1" smtClean="0"/>
              <a:t>experiencia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 err="1" smtClean="0"/>
              <a:t>pocos</a:t>
            </a:r>
            <a:r>
              <a:rPr lang="en-US" sz="1600" dirty="0" smtClean="0"/>
              <a:t> </a:t>
            </a:r>
            <a:r>
              <a:rPr lang="en-US" sz="1600" dirty="0" err="1" smtClean="0"/>
              <a:t>comentarios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sp>
        <p:nvSpPr>
          <p:cNvPr id="10" name="TextBox 9"/>
          <p:cNvSpPr txBox="1"/>
          <p:nvPr/>
        </p:nvSpPr>
        <p:spPr>
          <a:xfrm>
            <a:off x="5504467" y="6165304"/>
            <a:ext cx="3111850" cy="526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err="1" smtClean="0"/>
              <a:t>Programador</a:t>
            </a:r>
            <a:r>
              <a:rPr lang="en-US" sz="1600" dirty="0" smtClean="0"/>
              <a:t> con </a:t>
            </a:r>
            <a:r>
              <a:rPr lang="en-US" sz="1600" dirty="0" err="1" smtClean="0"/>
              <a:t>experiencia</a:t>
            </a:r>
            <a:r>
              <a:rPr lang="en-US" sz="1600" dirty="0" smtClean="0"/>
              <a:t> 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 err="1" smtClean="0"/>
              <a:t>muchos</a:t>
            </a:r>
            <a:r>
              <a:rPr lang="en-US" sz="1600" dirty="0" smtClean="0"/>
              <a:t> </a:t>
            </a:r>
            <a:r>
              <a:rPr lang="en-US" sz="1600" dirty="0" err="1" smtClean="0"/>
              <a:t>comentarios</a:t>
            </a:r>
            <a:r>
              <a:rPr lang="en-US" sz="1600" dirty="0" smtClean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51698950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Estructura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típica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simulación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8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4" name="Picture 3" descr="Screen Shot 2016-03-04 at 10.57.1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514713"/>
            <a:ext cx="4173025" cy="53432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31840" y="1556792"/>
            <a:ext cx="850413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Bibliotecas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15816" y="1916832"/>
            <a:ext cx="1720042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Definición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constantes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32040" y="2492896"/>
            <a:ext cx="1651727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Definición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funciones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8" name="Right Bracket 7"/>
          <p:cNvSpPr/>
          <p:nvPr/>
        </p:nvSpPr>
        <p:spPr bwMode="auto">
          <a:xfrm>
            <a:off x="7308304" y="2996952"/>
            <a:ext cx="216024" cy="3861048"/>
          </a:xfrm>
          <a:prstGeom prst="rightBracket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45720" tIns="45720" rIns="4572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49263" rtl="0" eaLnBrk="1" fontAlgn="base" latinLnBrk="0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Lucida Sans Unicode" charset="0"/>
              <a:ea typeface="ＭＳ Ｐゴシック" charset="0"/>
              <a:cs typeface="Lucida Sans Unicode" charset="0"/>
              <a:sym typeface="Lucida Sans Unicode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57333" y="4581128"/>
            <a:ext cx="1686667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Función</a:t>
            </a:r>
            <a:r>
              <a:rPr lang="en-US" sz="1000" dirty="0" smtClean="0">
                <a:solidFill>
                  <a:srgbClr val="0000FF"/>
                </a:solidFill>
              </a:rPr>
              <a:t> principal (main)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508104" y="3501008"/>
            <a:ext cx="1695621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Declaración</a:t>
            </a:r>
            <a:r>
              <a:rPr lang="en-US" sz="1000" dirty="0" smtClean="0">
                <a:solidFill>
                  <a:srgbClr val="0000FF"/>
                </a:solidFill>
              </a:rPr>
              <a:t> de variables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9" name="Right Bracket 8"/>
          <p:cNvSpPr/>
          <p:nvPr/>
        </p:nvSpPr>
        <p:spPr bwMode="auto">
          <a:xfrm>
            <a:off x="5364088" y="3068960"/>
            <a:ext cx="72008" cy="1080120"/>
          </a:xfrm>
          <a:prstGeom prst="rightBracket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45720" tIns="45720" rIns="4572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49263" rtl="0" eaLnBrk="1" fontAlgn="base" latinLnBrk="0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Lucida Sans Unicode" charset="0"/>
              <a:ea typeface="ＭＳ Ｐゴシック" charset="0"/>
              <a:cs typeface="Lucida Sans Unicode" charset="0"/>
              <a:sym typeface="Lucida Sans Unicode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39952" y="4725144"/>
            <a:ext cx="1925114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Lectura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datos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entrada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04048" y="5373216"/>
            <a:ext cx="758929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Cómputo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788024" y="4293096"/>
            <a:ext cx="1864688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Declaración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ficheros</a:t>
            </a:r>
            <a:r>
              <a:rPr lang="en-US" sz="1000" dirty="0" smtClean="0">
                <a:solidFill>
                  <a:srgbClr val="0000FF"/>
                </a:solidFill>
              </a:rPr>
              <a:t> i/o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3" name="Right Bracket 12"/>
          <p:cNvSpPr/>
          <p:nvPr/>
        </p:nvSpPr>
        <p:spPr bwMode="auto">
          <a:xfrm>
            <a:off x="4788024" y="5085184"/>
            <a:ext cx="72008" cy="792088"/>
          </a:xfrm>
          <a:prstGeom prst="rightBracket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45720" tIns="45720" rIns="4572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49263" rtl="0" eaLnBrk="1" fontAlgn="base" latinLnBrk="0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Lucida Sans Unicode" charset="0"/>
              <a:ea typeface="ＭＳ Ｐゴシック" charset="0"/>
              <a:cs typeface="Lucida Sans Unicode" charset="0"/>
              <a:sym typeface="Lucida Sans Unicode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7824" y="6093296"/>
            <a:ext cx="1127182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Salida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datos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15816" y="6453336"/>
            <a:ext cx="1289173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Cierre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ficheros</a:t>
            </a:r>
            <a:endParaRPr lang="en-US" sz="10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6529766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Edición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compilación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ejecución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9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59632" y="1772816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C/C++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cualquier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editor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texto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plano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(vi,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emacs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kate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notepad,TextEdit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geany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Eclipse)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Después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guardamos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extensión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.c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planetas.c</a:t>
            </a:r>
            <a:r>
              <a:rPr lang="en-US" sz="1600" dirty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continuación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compilamos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gcc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g++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C++): </a:t>
            </a:r>
            <a:r>
              <a:rPr lang="en-US" sz="1600" dirty="0" err="1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gcc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planetas.c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–o </a:t>
            </a:r>
            <a:r>
              <a:rPr lang="en-US" sz="1600" dirty="0" err="1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planetas.exe</a:t>
            </a:r>
            <a:r>
              <a:rPr lang="en-US" sz="160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-lm 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–O3</a:t>
            </a:r>
            <a:endParaRPr lang="en-US" sz="1600" dirty="0">
              <a:solidFill>
                <a:srgbClr val="00009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–o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deja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elegir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nombre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ejecutable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y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–O3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optimización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ejecutar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escribimos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el terminal: 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./</a:t>
            </a:r>
            <a:r>
              <a:rPr lang="en-US" sz="1600" dirty="0" err="1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planetas.es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&amp;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4" name="Picture 3" descr="Screen Shot 2016-02-22 at 17.35.08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856" y="2420888"/>
            <a:ext cx="3276364" cy="201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492223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/>
          </p:cNvSpPr>
          <p:nvPr/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>
            <a:lvl1pPr algn="ctr" defTabSz="449263" rtl="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+mj-lt"/>
                <a:ea typeface="+mj-ea"/>
                <a:cs typeface="+mj-cs"/>
                <a:sym typeface="Lucida Sans Unicode" charset="0"/>
              </a:defRPr>
            </a:lvl1pPr>
            <a:lvl2pPr algn="ctr" defTabSz="449263" rtl="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2pPr>
            <a:lvl3pPr algn="ctr" defTabSz="449263" rtl="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3pPr>
            <a:lvl4pPr algn="ctr" defTabSz="449263" rtl="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4pPr>
            <a:lvl5pPr algn="ctr" defTabSz="449263" rtl="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5pPr>
            <a:lvl6pPr marL="457200" algn="ctr" defTabSz="449263" rtl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6pPr>
            <a:lvl7pPr marL="914400" algn="ctr" defTabSz="449263" rtl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7pPr>
            <a:lvl8pPr marL="1371600" algn="ctr" defTabSz="449263" rtl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8pPr>
            <a:lvl9pPr marL="1828800" algn="ctr" defTabSz="449263" rtl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rgbClr val="F8330C"/>
                </a:solidFill>
                <a:latin typeface="Lucida Sans Unicode" charset="0"/>
                <a:ea typeface="ＭＳ Ｐゴシック" charset="0"/>
                <a:cs typeface="Lucida Sans Unicode" charset="0"/>
                <a:sym typeface="Lucida Sans Unicode" charset="0"/>
              </a:defRPr>
            </a:lvl9pPr>
          </a:lstStyle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Edición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compilación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ejecución</a:t>
            </a:r>
          </a:p>
          <a:p>
            <a:pPr defTabSz="914400" eaLnBrk="1">
              <a:lnSpc>
                <a:spcPct val="100000"/>
              </a:lnSpc>
              <a:defRPr/>
            </a:pP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8" name="Picture 7" descr="Screen Shot 2016-03-04 at 10.48.5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2492896"/>
            <a:ext cx="2425700" cy="1727200"/>
          </a:xfrm>
          <a:prstGeom prst="rect">
            <a:avLst/>
          </a:prstGeom>
        </p:spPr>
      </p:pic>
      <p:pic>
        <p:nvPicPr>
          <p:cNvPr id="10" name="Picture 9" descr="IMAGE 2019-02-27 09:17:10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2420888"/>
            <a:ext cx="2987824" cy="39837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92" y="1916832"/>
            <a:ext cx="3148518" cy="339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/>
              <a:t>Crear, compilar y ejecutar:</a:t>
            </a:r>
          </a:p>
        </p:txBody>
      </p:sp>
    </p:spTree>
    <p:extLst>
      <p:ext uri="{BB962C8B-B14F-4D97-AF65-F5344CB8AC3E}">
        <p14:creationId xmlns:p14="http://schemas.microsoft.com/office/powerpoint/2010/main" val="35909754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Edición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compilación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ejecución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11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59632" y="1772816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hacer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fácil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compilación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podemos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script.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script (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gcompila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toma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programa.c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devuelve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compilado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.exe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if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[ -f $1.c ] </a:t>
            </a: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then</a:t>
            </a:r>
            <a:endParaRPr lang="en-US" sz="16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gcc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-c $1.c</a:t>
            </a: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gcc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-o $1.exe $1.o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–lm –O3</a:t>
            </a: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else </a:t>
            </a:r>
            <a:endParaRPr lang="en-US" sz="16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echo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"No 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existe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archivo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$1.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c”</a:t>
            </a:r>
            <a:endParaRPr lang="en-US" sz="16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fi</a:t>
            </a: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script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darle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permiso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comando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./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gcompila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existir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programa.c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endParaRPr lang="en-US" sz="1600" dirty="0" smtClean="0">
              <a:solidFill>
                <a:srgbClr val="00009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1845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Variables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12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magnitud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cambiar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valor.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deben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declarar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principio de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Los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nombres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deben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contener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‘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exóticos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’ ($ % / \ ) y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deben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reflejar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uso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la variable.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Hay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distintos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tipos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variable, el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rango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depende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máquina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nt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-&gt;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endParaRPr lang="en-US" sz="14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l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ong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-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&gt;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largo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loat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-&gt;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racional</a:t>
            </a:r>
            <a:endParaRPr lang="en-US" sz="14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double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-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&gt;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racional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doble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precisión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char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-&gt;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carácter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un solo byte)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108089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Variables: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enteras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13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Los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sin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decimales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Se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suelen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contadores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¡¡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llevar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errores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redondeo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!!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forma de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declararlos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</a:p>
          <a:p>
            <a:pPr marL="403225" lvl="1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variable1, variable2   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 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Los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realidad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racionales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Tienen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precisión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limitada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forma de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declararlos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</a:p>
          <a:p>
            <a:pPr marL="403225" lvl="1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float variable1, variable2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5645030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Variables: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doble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precisión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14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variables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tipo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float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tienen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precisión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simple,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ya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almacenan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única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posición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memoria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calculos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precisos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precisión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demasiado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pequeña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calculos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precisos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variable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double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utiliza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posiciones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memoria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declaración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ouble variable1, variable2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10738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Variables: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15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representación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tanto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en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máquina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hace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sistema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binario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binario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[b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31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,b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30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,b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29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…,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3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] de 4 bytes (o 32 bits, 1 byte = 8 bits), 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</a:t>
            </a:r>
            <a:r>
              <a:rPr lang="en-US" sz="1600" baseline="-250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k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=0,1,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representa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grande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32 bits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 </a:t>
            </a:r>
            <a:r>
              <a:rPr lang="cs-CZ" sz="1600" b="1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2147483647~ 2.147x10</a:t>
            </a:r>
            <a:r>
              <a:rPr lang="cs-CZ" sz="1600" b="1" baseline="300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9</a:t>
            </a:r>
            <a:endParaRPr lang="en-US" sz="1600" b="1" baseline="300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856" y="3789040"/>
            <a:ext cx="29718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6648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Variables: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en coma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flotante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16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representación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coma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flotante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permite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almacenar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racionales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extremadamente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grandes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pequeños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manera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muy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eficiente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compacta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Representación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coma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flotante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racional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s=0,1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el bit de </a:t>
            </a:r>
            <a:r>
              <a:rPr lang="en-US" sz="1600" dirty="0" err="1">
                <a:solidFill>
                  <a:srgbClr val="000090"/>
                </a:solidFill>
                <a:latin typeface="Century Gothic" charset="0"/>
                <a:cs typeface="Century Gothic" charset="0"/>
              </a:rPr>
              <a:t>signo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, la </a:t>
            </a:r>
            <a:r>
              <a:rPr lang="en-US" sz="1600" dirty="0" err="1">
                <a:solidFill>
                  <a:srgbClr val="000090"/>
                </a:solidFill>
                <a:latin typeface="Century Gothic" charset="0"/>
                <a:cs typeface="Century Gothic" charset="0"/>
              </a:rPr>
              <a:t>mantisa</a:t>
            </a:r>
            <a:r>
              <a:rPr lang="en-US" sz="1600" dirty="0">
                <a:solidFill>
                  <a:srgbClr val="000090"/>
                </a:solidFill>
                <a:latin typeface="Century Gothic" charset="0"/>
                <a:cs typeface="Century Gothic" charset="0"/>
              </a:rPr>
              <a:t> (b)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contiene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los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dígitos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del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número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representar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, y </a:t>
            </a:r>
            <a:r>
              <a:rPr lang="en-US" sz="1600" dirty="0">
                <a:solidFill>
                  <a:srgbClr val="000090"/>
                </a:solidFill>
                <a:latin typeface="Century Gothic" charset="0"/>
                <a:cs typeface="Century Gothic" charset="0"/>
              </a:rPr>
              <a:t>el </a:t>
            </a:r>
            <a:r>
              <a:rPr lang="en-US" sz="1600" dirty="0" err="1">
                <a:solidFill>
                  <a:srgbClr val="000090"/>
                </a:solidFill>
                <a:latin typeface="Century Gothic" charset="0"/>
                <a:cs typeface="Century Gothic" charset="0"/>
              </a:rPr>
              <a:t>exponente</a:t>
            </a:r>
            <a:r>
              <a:rPr lang="en-US" sz="1600" dirty="0">
                <a:solidFill>
                  <a:srgbClr val="000090"/>
                </a:solidFill>
                <a:latin typeface="Century Gothic" charset="0"/>
                <a:cs typeface="Century Gothic" charset="0"/>
              </a:rPr>
              <a:t> (</a:t>
            </a:r>
            <a:r>
              <a:rPr lang="en-US" sz="1600" dirty="0" err="1">
                <a:solidFill>
                  <a:srgbClr val="000090"/>
                </a:solidFill>
                <a:latin typeface="Century Gothic" charset="0"/>
                <a:cs typeface="Century Gothic" charset="0"/>
              </a:rPr>
              <a:t>exp</a:t>
            </a:r>
            <a:r>
              <a:rPr lang="en-US" sz="1600" dirty="0">
                <a:solidFill>
                  <a:srgbClr val="000090"/>
                </a:solidFill>
                <a:latin typeface="Century Gothic" charset="0"/>
                <a:cs typeface="Century Gothic" charset="0"/>
              </a:rPr>
              <a:t>)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indica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donde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colocar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punto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decimal (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una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vez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sustraido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el bias).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real de 4 bytes (o 32 bits)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reservan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23 bits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para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mantisa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y 8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para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exponente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: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eso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nos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da 7-8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cifras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significativas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16" y="3140968"/>
            <a:ext cx="3797300" cy="622300"/>
          </a:xfrm>
          <a:prstGeom prst="rect">
            <a:avLst/>
          </a:prstGeom>
        </p:spPr>
      </p:pic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824" y="5661248"/>
            <a:ext cx="3797300" cy="62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648992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Ejercicio: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en coma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flotante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5" name="Picture 4" descr="Screenshot 2019-02-27 at 14.12.20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1916832"/>
            <a:ext cx="2520280" cy="29363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67944" y="2132856"/>
            <a:ext cx="3339376" cy="1064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Variantes:</a:t>
            </a:r>
          </a:p>
          <a:p>
            <a:pPr marL="342900" indent="-342900">
              <a:buFont typeface="Arial"/>
              <a:buChar char="•"/>
            </a:pPr>
            <a:r>
              <a:rPr lang="en-US"/>
              <a:t>Cambiar * por /</a:t>
            </a:r>
          </a:p>
          <a:p>
            <a:pPr marL="342900" indent="-342900">
              <a:buFont typeface="Arial"/>
              <a:buChar char="•"/>
            </a:pPr>
            <a:r>
              <a:rPr lang="en-US"/>
              <a:t>Probar con enteros</a:t>
            </a:r>
          </a:p>
        </p:txBody>
      </p:sp>
    </p:spTree>
    <p:extLst>
      <p:ext uri="{BB962C8B-B14F-4D97-AF65-F5344CB8AC3E}">
        <p14:creationId xmlns:p14="http://schemas.microsoft.com/office/powerpoint/2010/main" val="1038588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Variables: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18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tipo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variable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char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un solo byte.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Permite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almacenar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caracter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codifican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código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 ASCII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asignar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mediante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‘’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char a=‘a’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cadenas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vectores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categoría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char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manipular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cadenas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copiar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concatenar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comparar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está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librería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&lt;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string.h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&gt;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biblioteca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estándar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introducir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teclado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getchar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()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&lt;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&gt;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98899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Variables: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Caracteres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Código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ASCII)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19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3" name="Picture 2" descr="ASCII-Character-Codes-Chart__1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1628800"/>
            <a:ext cx="7740352" cy="506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85494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20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aritméticas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básicas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</a:p>
          <a:p>
            <a:pPr marL="1204913" lvl="2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Sumar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+</a:t>
            </a:r>
          </a:p>
          <a:p>
            <a:pPr marL="1204913" lvl="2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Restar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–</a:t>
            </a:r>
          </a:p>
          <a:p>
            <a:pPr marL="1204913" lvl="2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Multiplicación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*</a:t>
            </a:r>
          </a:p>
          <a:p>
            <a:pPr marL="1204913" lvl="2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División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/</a:t>
            </a:r>
          </a:p>
          <a:p>
            <a:pPr marL="1204913" lvl="2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Añadir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uno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x++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x=x+1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ó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x+=1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</a:p>
          <a:p>
            <a:pPr marL="1204913" lvl="2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Restar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uno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x--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x=x-1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ó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x-=1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endParaRPr lang="en-US" sz="14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real: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todas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variables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expresión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realizará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sin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truncar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decimales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entera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Si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todas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las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variables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constantes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una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expresión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son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enteros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las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sumas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restas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multiplicaciones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exponenciaciones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realizarán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sin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problema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. Sin embargo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las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divisiones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entre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enteros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ignoran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en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su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resultado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la parte decimal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que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automáticamente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</a:rPr>
              <a:t>truncada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5006269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mezcla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21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involucrar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transformados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sólo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multiplicar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1.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=1.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*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Los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convierten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resultado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trunca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decimales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(no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redondea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=(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 x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Ejemplos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pt-BR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5/2*3.0=6.0000  (</a:t>
            </a:r>
            <a:r>
              <a:rPr lang="pt-BR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la</a:t>
            </a:r>
            <a:r>
              <a:rPr lang="pt-BR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pt-BR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división</a:t>
            </a:r>
            <a:r>
              <a:rPr lang="pt-BR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es </a:t>
            </a:r>
            <a:r>
              <a:rPr lang="pt-BR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entera</a:t>
            </a:r>
            <a:r>
              <a:rPr lang="pt-BR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!)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bg-BG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3.0*5/2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=7.50000 (la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división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real)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pt-BR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5./2.*3.0=</a:t>
            </a:r>
            <a:r>
              <a:rPr lang="bg-BG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3.0*5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.</a:t>
            </a:r>
            <a:r>
              <a:rPr lang="bg-BG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/2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.=7.500000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¡¡Para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salida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real hay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convertirlo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todo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real!!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914039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prioridad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22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matemáticas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realizan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prioridad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Se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hacen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primero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multiplicaciones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 y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divisiones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 (de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izquierda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 a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derecha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).</a:t>
            </a:r>
            <a:endParaRPr lang="en-US" sz="1400" dirty="0">
              <a:solidFill>
                <a:srgbClr val="595959"/>
              </a:solidFill>
              <a:latin typeface="Century Gothic" charset="0"/>
              <a:ea typeface="+mn-ea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Sumas y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restas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 (de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izquierda</a:t>
            </a: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 a </a:t>
            </a:r>
            <a:r>
              <a:rPr lang="en-US" sz="14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derecha</a:t>
            </a:r>
            <a:r>
              <a:rPr lang="en-US" sz="1400" dirty="0" smtClean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).</a:t>
            </a:r>
            <a:endParaRPr lang="en-US" sz="1400" dirty="0">
              <a:solidFill>
                <a:srgbClr val="595959"/>
              </a:solidFill>
              <a:latin typeface="Century Gothic" charset="0"/>
              <a:ea typeface="+mn-ea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evitar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confusiones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recomienda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uso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paréntesis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()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5./2.+3.=5.500000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5.+3./2.=6.500000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  <a:sym typeface="Century Gothic" charset="0"/>
              </a:rPr>
              <a:t>(5.+3.)/2.=4.000000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360104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Operaciones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b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</a:b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&lt;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math.h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 (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biblioteca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estándar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23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librería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&lt;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math.h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&gt;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incluye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muchas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matemáticas</a:t>
            </a:r>
            <a:endParaRPr lang="en-US" sz="14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Las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importantes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son (el output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double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; los input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y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son double y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n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4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82146"/>
              </p:ext>
            </p:extLst>
          </p:nvPr>
        </p:nvGraphicFramePr>
        <p:xfrm>
          <a:off x="2267744" y="2708920"/>
          <a:ext cx="5184576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7323"/>
                <a:gridCol w="383725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sin(x)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seno</a:t>
                      </a:r>
                      <a:r>
                        <a:rPr lang="en-US" dirty="0" smtClean="0"/>
                        <a:t> de x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cos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coseno</a:t>
                      </a:r>
                      <a:r>
                        <a:rPr lang="en-US" dirty="0" smtClean="0"/>
                        <a:t> de x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tan(x)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tangente</a:t>
                      </a:r>
                      <a:r>
                        <a:rPr lang="en-US" dirty="0" smtClean="0"/>
                        <a:t> de x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exp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exponencial</a:t>
                      </a:r>
                      <a:r>
                        <a:rPr lang="en-US" dirty="0" smtClean="0"/>
                        <a:t> de x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log(x)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logaritmo</a:t>
                      </a:r>
                      <a:r>
                        <a:rPr lang="en-US" dirty="0" smtClean="0"/>
                        <a:t> natural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log10(x)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logaritmo</a:t>
                      </a:r>
                      <a:r>
                        <a:rPr lang="en-US" dirty="0" smtClean="0"/>
                        <a:t> en base 10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pow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(</a:t>
                      </a:r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x,y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x</a:t>
                      </a:r>
                      <a:r>
                        <a:rPr lang="en-US" baseline="30000" dirty="0" err="1" smtClean="0"/>
                        <a:t>y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sqrt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raíz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cuadrada</a:t>
                      </a:r>
                      <a:r>
                        <a:rPr lang="en-US" dirty="0" smtClean="0"/>
                        <a:t> de x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fabs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(x)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valos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absoluto</a:t>
                      </a:r>
                      <a:r>
                        <a:rPr lang="en-US" baseline="0" dirty="0" smtClean="0"/>
                        <a:t> de x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ldexp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(</a:t>
                      </a:r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x,n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)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x</a:t>
                      </a:r>
                      <a:r>
                        <a:rPr lang="en-US" baseline="0" dirty="0" smtClean="0"/>
                        <a:t> 2</a:t>
                      </a:r>
                      <a:r>
                        <a:rPr lang="en-US" baseline="30000" dirty="0" smtClean="0"/>
                        <a:t>n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76780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 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24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Supongamos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problema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cohete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lanzado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desde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altura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inicial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H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0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velocidad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inicial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0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aceleración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vertical A.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Entonces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altura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velocidad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instante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T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después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lanzamiento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vienen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dadas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ecuaciones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asigna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valor -9.807 (m/s</a:t>
            </a:r>
            <a:r>
              <a:rPr lang="en-US" sz="1600" baseline="30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2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a A, 150 (m) a H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0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100.00 (m/s) a V</a:t>
            </a:r>
            <a:r>
              <a:rPr lang="en-US" sz="1600" baseline="-250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0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5.0 (s) a T,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luego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calcula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valores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H y T.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9872" y="3212976"/>
            <a:ext cx="23749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76780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25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3" name="Picture 2" descr="Screen Shot 2016-02-23 at 13.05.23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1720" y="1988840"/>
            <a:ext cx="5387702" cy="435200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286000" y="2896855"/>
            <a:ext cx="4572000" cy="106429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Librería</a:t>
            </a:r>
            <a:r>
              <a:rPr lang="en-US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&lt;</a:t>
            </a:r>
            <a:r>
              <a:rPr lang="en-US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 (input y output)</a:t>
            </a:r>
            <a:br>
              <a:rPr lang="en-US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</a:br>
            <a:r>
              <a:rPr lang="en-US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Biblioteca</a:t>
            </a:r>
            <a:r>
              <a:rPr lang="en-US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estándar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714118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output: &lt;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 (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Biblioteca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estándar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26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556792"/>
            <a:ext cx="7272808" cy="530120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calcula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valores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H y V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le ha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almacena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internamente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din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verlos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usuario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aún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queremos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realizar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cálculo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otra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altura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velocidad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iniciales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hemos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reescribir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volverlo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compilar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ejecutar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explicar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cómo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información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generada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output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cómo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variar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información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inicial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input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sin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tener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modificar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vez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instrucción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leer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datos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desde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consola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scanf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mientras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resultados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consola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Ambas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forman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parte de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biblioteca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&lt;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&gt;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formato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estándar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0" indent="0" algn="ctr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scanf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formato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,&amp;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lista_variables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</a:p>
          <a:p>
            <a:pPr marL="0" indent="0" algn="ctr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formato,lista_variables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b="1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Ejemplos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scanf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(“%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”,&amp;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);           </a:t>
            </a:r>
          </a:p>
          <a:p>
            <a:pPr marL="0" indent="0" algn="ctr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(“%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\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t%lf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\n”,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x,y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);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7939432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(&lt;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&gt;)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27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556792"/>
            <a:ext cx="7272808" cy="530120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Síntasis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(formato,variable1,variable2,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…,variableN);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Conversiones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Formato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texto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sin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precedido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%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ó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\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88385"/>
              </p:ext>
            </p:extLst>
          </p:nvPr>
        </p:nvGraphicFramePr>
        <p:xfrm>
          <a:off x="1619672" y="2420888"/>
          <a:ext cx="6096000" cy="2494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112"/>
                <a:gridCol w="5087888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</a:t>
                      </a:r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, %d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Int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%lf, %f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Double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%.8lf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Double con 8 </a:t>
                      </a:r>
                      <a:r>
                        <a:rPr lang="en-US" dirty="0" err="1" smtClean="0"/>
                        <a:t>decimales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%e, %E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Double con </a:t>
                      </a:r>
                      <a:r>
                        <a:rPr lang="en-US" dirty="0" err="1" smtClean="0"/>
                        <a:t>formato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>
                          <a:solidFill>
                            <a:srgbClr val="0000FF"/>
                          </a:solidFill>
                        </a:rPr>
                        <a:t>m.dddde±xx</a:t>
                      </a:r>
                      <a:endParaRPr lang="en-US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</a:t>
                      </a:r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g,%G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Double; </a:t>
                      </a:r>
                      <a:r>
                        <a:rPr lang="en-US" dirty="0" err="1" smtClean="0"/>
                        <a:t>usa</a:t>
                      </a:r>
                      <a:r>
                        <a:rPr lang="en-US" dirty="0" smtClean="0"/>
                        <a:t> %e </a:t>
                      </a:r>
                      <a:r>
                        <a:rPr lang="en-US" dirty="0" err="1" smtClean="0"/>
                        <a:t>si</a:t>
                      </a:r>
                      <a:r>
                        <a:rPr lang="en-US" dirty="0" smtClean="0"/>
                        <a:t> el </a:t>
                      </a:r>
                      <a:r>
                        <a:rPr lang="en-US" dirty="0" err="1" smtClean="0"/>
                        <a:t>exponente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es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menor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que</a:t>
                      </a:r>
                      <a:r>
                        <a:rPr lang="en-US" dirty="0" smtClean="0"/>
                        <a:t> -4</a:t>
                      </a:r>
                      <a:r>
                        <a:rPr lang="en-US" baseline="0" dirty="0" smtClean="0"/>
                        <a:t>. De </a:t>
                      </a:r>
                      <a:r>
                        <a:rPr lang="en-US" baseline="0" dirty="0" err="1" smtClean="0"/>
                        <a:t>otra</a:t>
                      </a:r>
                      <a:r>
                        <a:rPr lang="en-US" baseline="0" dirty="0" smtClean="0"/>
                        <a:t> forma </a:t>
                      </a:r>
                      <a:r>
                        <a:rPr lang="en-US" baseline="0" dirty="0" err="1" smtClean="0"/>
                        <a:t>usa</a:t>
                      </a:r>
                      <a:r>
                        <a:rPr lang="en-US" baseline="0" dirty="0" smtClean="0"/>
                        <a:t> %f.</a:t>
                      </a:r>
                      <a:r>
                        <a:rPr lang="en-US" dirty="0" smtClean="0"/>
                        <a:t> 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%c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Caracter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7327387"/>
              </p:ext>
            </p:extLst>
          </p:nvPr>
        </p:nvGraphicFramePr>
        <p:xfrm>
          <a:off x="4514850" y="3346450"/>
          <a:ext cx="1143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5" name="Equation" r:id="rId3" imgW="114300" imgH="165100" progId="Equation.3">
                  <p:embed/>
                </p:oleObj>
              </mc:Choice>
              <mc:Fallback>
                <p:oleObj name="Equation" r:id="rId3" imgW="114300" imgH="165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6450"/>
                        <a:ext cx="1143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385250"/>
              </p:ext>
            </p:extLst>
          </p:nvPr>
        </p:nvGraphicFramePr>
        <p:xfrm>
          <a:off x="3059832" y="5229200"/>
          <a:ext cx="3384376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9729"/>
                <a:gridCol w="290464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\t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Inserta</a:t>
                      </a:r>
                      <a:r>
                        <a:rPr lang="en-US" dirty="0" smtClean="0"/>
                        <a:t> un </a:t>
                      </a:r>
                      <a:r>
                        <a:rPr lang="en-US" dirty="0" err="1" smtClean="0"/>
                        <a:t>tabulador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\n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Nueva </a:t>
                      </a:r>
                      <a:r>
                        <a:rPr lang="en-US" dirty="0" err="1" smtClean="0"/>
                        <a:t>línea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0723655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scanf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(&lt;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&gt;)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28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556792"/>
            <a:ext cx="7272808" cy="530120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Síntasis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scanf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(formato,&amp;variable1,&amp;variable2,</a:t>
            </a:r>
            <a:r>
              <a:rPr lang="is-I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…,&amp;variableN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);</a:t>
            </a:r>
            <a:endParaRPr lang="en-US" sz="14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variables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siempre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llevar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&amp;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delante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(son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direcciones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memoria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apartado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sobre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Conversiones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¡¡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 se </a:t>
            </a: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escribe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\n 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 final!!</a:t>
            </a:r>
          </a:p>
          <a:p>
            <a:pPr marL="403225" lvl="1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219746"/>
              </p:ext>
            </p:extLst>
          </p:nvPr>
        </p:nvGraphicFramePr>
        <p:xfrm>
          <a:off x="2699792" y="3789040"/>
          <a:ext cx="3744416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112"/>
                <a:gridCol w="2736304"/>
              </a:tblGrid>
              <a:tr h="306034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</a:t>
                      </a:r>
                      <a:r>
                        <a:rPr lang="en-US" dirty="0" err="1" smtClean="0">
                          <a:solidFill>
                            <a:srgbClr val="FF6600"/>
                          </a:solidFill>
                        </a:rPr>
                        <a:t>i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Número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Entero</a:t>
                      </a:r>
                      <a:endParaRPr lang="en-US" dirty="0"/>
                    </a:p>
                  </a:txBody>
                  <a:tcPr/>
                </a:tc>
              </a:tr>
              <a:tr h="306034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%c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Caracter</a:t>
                      </a:r>
                      <a:endParaRPr lang="en-US" dirty="0"/>
                    </a:p>
                  </a:txBody>
                  <a:tcPr/>
                </a:tc>
              </a:tr>
              <a:tr h="306034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%s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Cadena</a:t>
                      </a:r>
                      <a:r>
                        <a:rPr lang="en-US" dirty="0" smtClean="0"/>
                        <a:t> de </a:t>
                      </a:r>
                      <a:r>
                        <a:rPr lang="en-US" dirty="0" err="1" smtClean="0"/>
                        <a:t>caracteres</a:t>
                      </a:r>
                      <a:endParaRPr lang="en-US" dirty="0"/>
                    </a:p>
                  </a:txBody>
                  <a:tcPr/>
                </a:tc>
              </a:tr>
              <a:tr h="306034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%lf, %g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Número</a:t>
                      </a:r>
                      <a:r>
                        <a:rPr lang="en-US" dirty="0" smtClean="0"/>
                        <a:t> Real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474992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 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canf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29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2-28 at 11.44.06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00" y="1700808"/>
            <a:ext cx="3816424" cy="4926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20855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output: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canf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diferentes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formatos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30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5" name="Picture 4" descr="Screen Shot 2016-02-23 at 17.31.1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844824"/>
            <a:ext cx="4784028" cy="4609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425700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ficheros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b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</a:b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fprintf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fscanf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&lt;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31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700808"/>
            <a:ext cx="7272808" cy="496855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acceder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primero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declarar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ficheros</a:t>
            </a:r>
            <a:endParaRPr lang="en-US" sz="1600" dirty="0" smtClean="0">
              <a:solidFill>
                <a:srgbClr val="0000FF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FILE *f1,*f2;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vez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declarados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abrir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fopen</a:t>
            </a:r>
            <a:endParaRPr lang="en-US" sz="16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f1=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fopen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nombre,modo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);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nombre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entrecomillado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determina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podemos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hacer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‘+’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permite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leer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“r+”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endParaRPr lang="en-US" sz="16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584785"/>
              </p:ext>
            </p:extLst>
          </p:nvPr>
        </p:nvGraphicFramePr>
        <p:xfrm>
          <a:off x="1907704" y="4509120"/>
          <a:ext cx="6096000" cy="1381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112"/>
                <a:gridCol w="5087888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“w”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Escritura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destruye</a:t>
                      </a:r>
                      <a:r>
                        <a:rPr lang="en-US" baseline="0" dirty="0" smtClean="0"/>
                        <a:t> el </a:t>
                      </a:r>
                      <a:r>
                        <a:rPr lang="en-US" baseline="0" dirty="0" err="1" smtClean="0"/>
                        <a:t>fichero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si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ya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existe</a:t>
                      </a:r>
                      <a:r>
                        <a:rPr lang="en-US" baseline="0" dirty="0" smtClean="0"/>
                        <a:t>)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“r”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Lectura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“a”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Añadido</a:t>
                      </a:r>
                      <a:r>
                        <a:rPr lang="en-US" baseline="0" dirty="0" smtClean="0"/>
                        <a:t> (</a:t>
                      </a:r>
                      <a:r>
                        <a:rPr lang="en-US" baseline="0" dirty="0" err="1" smtClean="0"/>
                        <a:t>escritura</a:t>
                      </a:r>
                      <a:r>
                        <a:rPr lang="en-US" baseline="0" dirty="0" smtClean="0"/>
                        <a:t> al final del </a:t>
                      </a:r>
                      <a:r>
                        <a:rPr lang="en-US" baseline="0" dirty="0" err="1" smtClean="0"/>
                        <a:t>fichero</a:t>
                      </a:r>
                      <a:r>
                        <a:rPr lang="en-US" baseline="0" dirty="0" smtClean="0"/>
                        <a:t>, </a:t>
                      </a:r>
                      <a:r>
                        <a:rPr lang="en-US" baseline="0" dirty="0" err="1" smtClean="0"/>
                        <a:t>si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ya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existe</a:t>
                      </a:r>
                      <a:r>
                        <a:rPr lang="en-US" baseline="0" dirty="0" smtClean="0"/>
                        <a:t> lo </a:t>
                      </a:r>
                      <a:r>
                        <a:rPr lang="en-US" baseline="0" dirty="0" err="1" smtClean="0"/>
                        <a:t>preserva</a:t>
                      </a:r>
                      <a:r>
                        <a:rPr lang="en-US" baseline="0" dirty="0" smtClean="0"/>
                        <a:t>)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112448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output: 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ficheros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  <a:b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</a:b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fprintf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fscanf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&lt;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32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700808"/>
            <a:ext cx="7272808" cy="46085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evitar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pérdida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datos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cierran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fclose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(y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reutilizarse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):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fclose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(f1);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fprintf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conversiones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formato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printf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(f1,formato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,variable1,variable2,</a:t>
            </a:r>
            <a:r>
              <a:rPr lang="is-I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…,variableN); </a:t>
            </a:r>
            <a:endParaRPr lang="is-IS" sz="14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leer de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fichero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fscanf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conversiones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formato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scanf</a:t>
            </a:r>
            <a:endParaRPr lang="en-US" sz="16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fscanf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(f1,formato,&amp;variable1,&amp;variable2,</a:t>
            </a:r>
            <a:r>
              <a:rPr lang="is-I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…,&amp;variableN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632921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Input y output: 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ficheros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  <a:b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</a:b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fprintf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fscanf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&lt;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en-US" sz="3600" dirty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&gt;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33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2-26 at 12.53.17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2243409"/>
            <a:ext cx="7056438" cy="4614591"/>
          </a:xfrm>
          <a:prstGeom prst="rect">
            <a:avLst/>
          </a:prstGeom>
        </p:spPr>
      </p:pic>
      <p:sp>
        <p:nvSpPr>
          <p:cNvPr id="5" name="Rectangle 2"/>
          <p:cNvSpPr txBox="1">
            <a:spLocks/>
          </p:cNvSpPr>
          <p:nvPr/>
        </p:nvSpPr>
        <p:spPr bwMode="auto">
          <a:xfrm>
            <a:off x="1259632" y="1700808"/>
            <a:ext cx="7272808" cy="46085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s-ES_tradnl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Ejemplo:</a:t>
            </a:r>
            <a:endParaRPr lang="en-US" sz="1600" b="1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086738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Ejercicios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Input/output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aritmética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34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59632" y="1556792"/>
            <a:ext cx="7272808" cy="5301208"/>
          </a:xfrm>
          <a:prstGeom prst="rect">
            <a:avLst/>
          </a:prstGeom>
          <a:extLst>
            <a:ext uri="{FAA26D3D-D897-4be2-8F04-BA451C77F1D7}">
              <ma14:placeholderFlag xmlns:ma14="http://schemas.microsoft.com/office/mac/drawingml/2011/main" val="1"/>
            </a:ext>
          </a:ex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anterior,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compílelo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ejecútelo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convierta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Celsius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Farenheit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muestre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resultado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pantalla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Recuerde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relación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entre los dos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muestre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pantalla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raíz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cuadrada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1 al 20.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tome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tres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desde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teclado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a, b y c,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muestre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pantalla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raíces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ecuación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Note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fallará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cuando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intente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calcular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raíces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negativos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Este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problema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solventamos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adelante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714375" lvl="1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936" y="3356992"/>
            <a:ext cx="1181100" cy="431800"/>
          </a:xfrm>
          <a:prstGeom prst="rect">
            <a:avLst/>
          </a:prstGeom>
        </p:spPr>
      </p:pic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1920" y="5589240"/>
            <a:ext cx="14605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183686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if - else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35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proposición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if-else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utiliza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expresar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decisiones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síntesis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formal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(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condición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_1;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else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orden_2;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Múltiples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órdenes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incluirse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{}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condición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{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orden_1a;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orden_1b;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}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else 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{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orden_2a;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orden_2b;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}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94938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if - else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36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proposición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else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opcional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suele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omitir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proposición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if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anidar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(n&gt;0)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( 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&lt;0)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orden_1;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else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orden_2;</a:t>
            </a:r>
            <a:endParaRPr lang="en-US" sz="14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tabuladores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llaves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{}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evita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confusiones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También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los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operadores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&amp;&amp;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(AND) y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||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(OR).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501317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else if - switch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37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else if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ejecutar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órdenes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se ha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cumplido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condición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anterior y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cumple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nueva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(condición_1)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else 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(condición_2) orden_1;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else 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(condición_3) orden_2;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</a:t>
            </a:r>
            <a:r>
              <a:rPr lang="en-US" sz="140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else 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orden_3;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última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sólo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ejecuta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cumplen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ninguna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anteriores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switch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hacer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decisiones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múltiples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basadas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el valor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 o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constante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				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switch (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expresión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case c1: orden_1;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case c2: orden_2;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default: orden_3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default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ejecuta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expresión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coincide con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ningún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caso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831498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operadores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38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508290"/>
              </p:ext>
            </p:extLst>
          </p:nvPr>
        </p:nvGraphicFramePr>
        <p:xfrm>
          <a:off x="1403648" y="2060848"/>
          <a:ext cx="6096000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/>
                <a:gridCol w="3048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==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Igual</a:t>
                      </a:r>
                      <a:r>
                        <a:rPr lang="en-US" dirty="0" smtClean="0"/>
                        <a:t> a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!=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Distinto</a:t>
                      </a:r>
                      <a:r>
                        <a:rPr lang="en-US" dirty="0" smtClean="0"/>
                        <a:t> a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&lt;,</a:t>
                      </a:r>
                      <a:r>
                        <a:rPr lang="en-US" baseline="0" dirty="0" smtClean="0">
                          <a:solidFill>
                            <a:srgbClr val="FF6600"/>
                          </a:solidFill>
                        </a:rPr>
                        <a:t> &lt;=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Menor</a:t>
                      </a:r>
                      <a:r>
                        <a:rPr lang="en-US" dirty="0" smtClean="0"/>
                        <a:t> a, </a:t>
                      </a:r>
                      <a:r>
                        <a:rPr lang="en-US" dirty="0" err="1" smtClean="0"/>
                        <a:t>menor</a:t>
                      </a:r>
                      <a:r>
                        <a:rPr lang="en-US" dirty="0" smtClean="0"/>
                        <a:t> o </a:t>
                      </a:r>
                      <a:r>
                        <a:rPr lang="en-US" dirty="0" err="1" smtClean="0"/>
                        <a:t>igual</a:t>
                      </a:r>
                      <a:r>
                        <a:rPr lang="en-US" dirty="0" smtClean="0"/>
                        <a:t> a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&gt;, &gt;=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Mayor a,</a:t>
                      </a:r>
                      <a:r>
                        <a:rPr lang="en-US" baseline="0" dirty="0" smtClean="0"/>
                        <a:t> mayor o </a:t>
                      </a:r>
                      <a:r>
                        <a:rPr lang="en-US" baseline="0" dirty="0" err="1" smtClean="0"/>
                        <a:t>igual</a:t>
                      </a:r>
                      <a:r>
                        <a:rPr lang="en-US" baseline="0" dirty="0" smtClean="0"/>
                        <a:t> a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&amp;&amp;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AND (</a:t>
                      </a:r>
                      <a:r>
                        <a:rPr lang="en-US" dirty="0" err="1" smtClean="0"/>
                        <a:t>lógico</a:t>
                      </a:r>
                      <a:r>
                        <a:rPr lang="en-US" dirty="0" smtClean="0"/>
                        <a:t>)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||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OR (</a:t>
                      </a:r>
                      <a:r>
                        <a:rPr lang="en-US" dirty="0" err="1" smtClean="0"/>
                        <a:t>lógico</a:t>
                      </a:r>
                      <a:r>
                        <a:rPr lang="en-US" dirty="0" smtClean="0"/>
                        <a:t>)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6600"/>
                          </a:solidFill>
                        </a:rPr>
                        <a:t>!</a:t>
                      </a:r>
                      <a:endParaRPr lang="en-US" dirty="0">
                        <a:solidFill>
                          <a:srgbClr val="FF66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Negación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lógica</a:t>
                      </a:r>
                      <a:r>
                        <a:rPr lang="en-US" dirty="0" smtClean="0"/>
                        <a:t>)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2"/>
          <p:cNvSpPr txBox="1">
            <a:spLocks/>
          </p:cNvSpPr>
          <p:nvPr/>
        </p:nvSpPr>
        <p:spPr bwMode="auto">
          <a:xfrm>
            <a:off x="1259632" y="16288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proposición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evaluar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define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mediante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operadores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equivalente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anterior):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 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(n&gt;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0 &amp;&amp;  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&lt;0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 orden_1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else orden_2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</a:t>
            </a:r>
            <a:endParaRPr lang="en-US" sz="14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636303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if - else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39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determina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menor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-10,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está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entre -10 y 10, o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mayor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10.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Usando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if-else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realizar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determine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par o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impar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impar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determine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múltiplo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3.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3-03 at 14.27.44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16" y="2420888"/>
            <a:ext cx="3528392" cy="282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4414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for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40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7" name="Rectangle 2"/>
          <p:cNvSpPr txBox="1">
            <a:spLocks/>
          </p:cNvSpPr>
          <p:nvPr/>
        </p:nvSpPr>
        <p:spPr bwMode="auto">
          <a:xfrm>
            <a:off x="1259632" y="1680592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for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sirve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crear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iteracciones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ciclos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también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existe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while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equivalente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síntasis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for (expr1; expr2; expr3) </a:t>
            </a:r>
            <a:r>
              <a:rPr lang="en-US" sz="16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proposición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expresión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expr1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ejecuta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principio del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bucle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y 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expr3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final de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ciclo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junto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proposición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bucle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continúa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mientras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cumpla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expresión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expr2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b="1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Este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bucle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calcula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suma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los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1 al 100. 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x=0.;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for (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=1; 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&lt;=100; 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++) x+=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</a:t>
            </a:r>
            <a:endParaRPr lang="en-US" sz="14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segunda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expresión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expr2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está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blanco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considera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verdadera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creando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bucle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infinito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break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sale de un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bucle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continue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salta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ciclo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7947249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jercicios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41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7" name="Rectangle 2"/>
          <p:cNvSpPr txBox="1">
            <a:spLocks/>
          </p:cNvSpPr>
          <p:nvPr/>
        </p:nvSpPr>
        <p:spPr bwMode="auto">
          <a:xfrm>
            <a:off x="1259632" y="1628800"/>
            <a:ext cx="7239000" cy="4988768"/>
          </a:xfrm>
          <a:prstGeom prst="rect">
            <a:avLst/>
          </a:prstGeom>
          <a:extLst>
            <a:ext uri="{FAA26D3D-D897-4be2-8F04-BA451C77F1D7}">
              <ma14:placeholderFlag xmlns:ma14="http://schemas.microsoft.com/office/mac/drawingml/2011/main" val="1"/>
            </a:ext>
          </a:ex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Conversión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Temperatura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imprima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pantalla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tabla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conversión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Celsius a Fahrenheit de 0C a 100C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grado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grado</a:t>
            </a: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Rango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variables </a:t>
            </a: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C: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encuentre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valor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máximo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almacenar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variable real.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multiplicar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repetidamente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variable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2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dentro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bucle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mostrando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pantalla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resultado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hasta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ordenador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dé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un error.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También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valor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máximo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fichero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Rango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variables </a:t>
            </a: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enteras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C: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Reescriba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anterior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0981349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Control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flujo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jercicios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42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7" name="Rectangle 2"/>
          <p:cNvSpPr txBox="1">
            <a:spLocks/>
          </p:cNvSpPr>
          <p:nvPr/>
        </p:nvSpPr>
        <p:spPr bwMode="auto">
          <a:xfrm>
            <a:off x="1259632" y="1628800"/>
            <a:ext cx="7239000" cy="4988768"/>
          </a:xfrm>
          <a:prstGeom prst="rect">
            <a:avLst/>
          </a:prstGeom>
          <a:extLst>
            <a:ext uri="{FAA26D3D-D897-4be2-8F04-BA451C77F1D7}">
              <ma14:placeholderFlag xmlns:ma14="http://schemas.microsoft.com/office/mac/drawingml/2011/main" val="1"/>
            </a:ext>
          </a:ex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toma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teclado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comprueba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su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tamaño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Si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menor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100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debe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pantalla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“</a:t>
            </a:r>
            <a:r>
              <a:rPr lang="en-US" sz="1600" dirty="0" err="1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pequeño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”, y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mayor o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igual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a 100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debe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“</a:t>
            </a:r>
            <a:r>
              <a:rPr lang="en-US" sz="1600" dirty="0" err="1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grande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”.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Coloque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todo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bucle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forma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puedan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entrar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varios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uno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tras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otro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Reescriba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resolvía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ecuación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segundo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grado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Ahora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antes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calcular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raíz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cuadrada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compruebe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discriminante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negativo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y,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lo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pantalla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“</a:t>
            </a:r>
            <a:r>
              <a:rPr lang="en-US" sz="1600" dirty="0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No hay </a:t>
            </a:r>
            <a:r>
              <a:rPr lang="en-US" sz="1600" dirty="0" err="1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raíces</a:t>
            </a:r>
            <a:r>
              <a:rPr lang="en-US" sz="1600" dirty="0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0000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”. 	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lea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desde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teclado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10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y los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memorice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un vector.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Ordénelos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forma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pequeño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sea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primero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lista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Un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algoritmo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sencillo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aunque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no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eficiente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)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ordenación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consiste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comparar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todos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demás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ver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cuántos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pequeños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hay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más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pequeños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n+1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537942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Arrays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43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 array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conjunto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variables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ordenadas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comparten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nombre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son del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tipo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acceso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variables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realiza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variando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índice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grupo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10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estudiantes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recibido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notas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trabajo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empleado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Si la nota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estudiante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almacena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variable: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mark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, mark2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is-I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…, 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mark</a:t>
            </a:r>
            <a:r>
              <a:rPr lang="is-I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10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la nota media será 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4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	sum=(</a:t>
            </a:r>
            <a:r>
              <a:rPr lang="en-US" sz="14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mark</a:t>
            </a:r>
            <a:r>
              <a:rPr lang="is-IS" sz="14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1+</a:t>
            </a:r>
            <a:r>
              <a:rPr lang="en-US" sz="14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mark</a:t>
            </a:r>
            <a:r>
              <a:rPr lang="is-IS" sz="14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2+...+</a:t>
            </a:r>
            <a:r>
              <a:rPr lang="en-US" sz="14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mark</a:t>
            </a:r>
            <a:r>
              <a:rPr lang="is-IS" sz="14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10)/10.0</a:t>
            </a:r>
            <a:endParaRPr lang="is-IS" sz="1400" dirty="0">
              <a:solidFill>
                <a:srgbClr val="0000FF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 más conveniente utilizar un vector 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mark[i]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donde i puede tomar valores entre 1 y 10, y utilizar un bucle 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for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sum=0.;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for (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=1;i&lt;=10;i++) sum+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=mark[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];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sum/=10.;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ventaja es más importante si tenemos que sumar 1000 ó 10000 datos.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73247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Arrays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Declaración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44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9232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 array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tener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múltiples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dimensiones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definidas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distintos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índices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 array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declara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principio del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variables.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indicar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tamaño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mark[10];</a:t>
            </a:r>
          </a:p>
          <a:p>
            <a:pPr marL="0" indent="0" algn="ctr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double table[10][15], 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var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[2][10][5];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índice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inicial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siempre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0.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asignar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memoria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manera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dinámica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malloc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significa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decidir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tamaño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array al principio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variar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durante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ejecución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librería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“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nrutil.h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” de  Numerical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Recipes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 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483986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Arrays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Declaración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45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447800" y="19050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apunta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directamente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dirección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memoria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utilizan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manipular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arrays 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mejora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velocidad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muy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pasar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argumentos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operador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* 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define un puntero, y el operador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&amp; 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da la dirección de memoria de una variable. </a:t>
            </a:r>
            <a:r>
              <a:rPr lang="is-I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Ejemplo: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x=1, y=2, z[10];</a:t>
            </a: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*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  		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//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puntero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entero</a:t>
            </a:r>
            <a:endParaRPr lang="en-US" sz="1400" dirty="0" smtClean="0">
              <a:solidFill>
                <a:srgbClr val="0080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403225" lvl="1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=&amp;x;  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		//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ahora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apunta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a x</a:t>
            </a:r>
          </a:p>
          <a:p>
            <a:pPr marL="403225" lvl="1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y=*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;   		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// y</a:t>
            </a:r>
            <a:r>
              <a:rPr lang="en-US" sz="1400" dirty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ahora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1</a:t>
            </a:r>
          </a:p>
          <a:p>
            <a:pPr marL="403225" lvl="1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*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=0;  		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// x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ahora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0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</a:p>
          <a:p>
            <a:pPr marL="403225" lvl="1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=&amp;z[0]; 	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//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ip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ahora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apunta</a:t>
            </a:r>
            <a:r>
              <a:rPr lang="en-US" sz="1400" dirty="0" smtClean="0">
                <a:solidFill>
                  <a:srgbClr val="008000"/>
                </a:solidFill>
                <a:latin typeface="Century Gothic" charset="0"/>
                <a:cs typeface="Century Gothic" charset="0"/>
                <a:sym typeface="Century Gothic" charset="0"/>
              </a:rPr>
              <a:t> a z[0]]</a:t>
            </a:r>
            <a:endParaRPr lang="is-IS" sz="1400" dirty="0" smtClean="0">
              <a:solidFill>
                <a:srgbClr val="0080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88639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Arrays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relación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46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556792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los arrays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están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tan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relacionados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C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habitualmente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explican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juntos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analizarlo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sacado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  <a:hlinkClick r:id="rId2"/>
              </a:rPr>
              <a:t>libro de K&amp;R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 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orden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a[10];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 </a:t>
            </a: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define un array de 10 elementos. 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 definimos un puntero a entero y hacemos la siguiente asignación.</a:t>
            </a: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		</a:t>
            </a:r>
            <a:r>
              <a:rPr lang="is-I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 *pa; </a:t>
            </a:r>
          </a:p>
          <a:p>
            <a:pPr marL="0" indent="0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	</a:t>
            </a:r>
            <a:r>
              <a:rPr lang="is-I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is-I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pa=&amp;a[0];</a:t>
            </a:r>
            <a:r>
              <a:rPr lang="is-IS" sz="14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		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pasa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apuntar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primer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elemento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3-02 at 14.31.30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00" y="3429000"/>
            <a:ext cx="3905944" cy="614288"/>
          </a:xfrm>
          <a:prstGeom prst="rect">
            <a:avLst/>
          </a:prstGeom>
        </p:spPr>
      </p:pic>
      <p:pic>
        <p:nvPicPr>
          <p:cNvPr id="3" name="Picture 2" descr="Screen Shot 2016-03-02 at 14.34.39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808" y="5661248"/>
            <a:ext cx="3869849" cy="100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6763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Arrays y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47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6288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hacemos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ahora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x=*pa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contenido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</a:t>
            </a:r>
            <a:r>
              <a:rPr lang="en-US" sz="1600" dirty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p[0]</a:t>
            </a:r>
            <a:r>
              <a:rPr lang="en-US" sz="1600" dirty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copiará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x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apunta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particular del array,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definición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pa+1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apuntará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elemento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pa+i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apuntará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elementos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después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 </a:t>
            </a: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Igualmente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*(</a:t>
            </a:r>
            <a:r>
              <a:rPr lang="en-US" sz="17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pa+i</a:t>
            </a:r>
            <a:r>
              <a:rPr lang="en-US" sz="17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)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dará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mismo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resultado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p[</a:t>
            </a:r>
            <a:r>
              <a:rPr lang="en-US" sz="17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</a:t>
            </a:r>
            <a:r>
              <a:rPr lang="en-US" sz="17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]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7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Nota: 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definir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también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arrays de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7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7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</p:txBody>
      </p:sp>
      <p:pic>
        <p:nvPicPr>
          <p:cNvPr id="7" name="Picture 6" descr="Screen Shot 2016-03-02 at 14.40.16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16" y="3284984"/>
            <a:ext cx="3821832" cy="1119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589023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48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700808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 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C.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mayoría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problemas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son tan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complejos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resulta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conveniente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dividirlos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pequeños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subproblemas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Además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tareas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normal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realizar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varias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veces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evitan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tener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reescribir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mismas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órdenes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varias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veces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 función toma una serie de parámetros como argumentos, realiza una serie de operaciones y devuelve un único valor (o ningún valor) como resultado. Hay muchas funciones predefinidas en las librerías estándar de C, incluyendo funciones de entrada y salida (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stdio.h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), funciones matemáticas (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math.h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o de procesado de cadenas (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string.h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 </a:t>
            </a:r>
            <a:r>
              <a:rPr lang="is-I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C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hay diferencia ente funciones y subrutinas (como sí la hay en </a:t>
            </a:r>
            <a:r>
              <a:rPr lang="is-I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FORTRAN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 Una función puede no devolver ningún valor, si está definida como 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void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356676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49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define de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manera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tipo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400" dirty="0" err="1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nombre_función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(var1, var2, </a:t>
            </a:r>
            <a:r>
              <a:rPr lang="is-I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…, varN)</a:t>
            </a: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endParaRPr lang="en-US" sz="14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{</a:t>
            </a: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declaraciones</a:t>
            </a:r>
            <a:endParaRPr lang="en-US" sz="14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		</a:t>
            </a:r>
            <a:r>
              <a:rPr lang="en-US" sz="14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proposiciones</a:t>
            </a:r>
            <a:endParaRPr lang="en-US" sz="14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400" dirty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</a:t>
            </a:r>
            <a:r>
              <a:rPr lang="en-US" sz="14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		}</a:t>
            </a:r>
          </a:p>
          <a:p>
            <a:pPr marL="0" indent="0" algn="just" defTabSz="831850" eaLnBrk="1">
              <a:lnSpc>
                <a:spcPts val="3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4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tipo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determina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salida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corresponder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cualquier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tipo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variable (</a:t>
            </a:r>
            <a:r>
              <a:rPr lang="en-US" sz="1600" dirty="0" err="1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int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double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char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…). Si la función no devuelve ningún valor su tipo es 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void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La salida se devuelve con el comando </a:t>
            </a:r>
            <a:r>
              <a:rPr lang="is-I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return</a:t>
            </a: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b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</a:b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/>
            </a:r>
            <a:b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</a:b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¡Note que una función no puede devolver un array!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is-I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variables que recibe la función no pueden ser modificados. </a:t>
            </a: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356676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50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crea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prueba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exponenciadora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endParaRPr lang="is-I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4" name="Picture 3" descr="Screen Shot 2016-03-04 at 11.10.15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784" y="2420888"/>
            <a:ext cx="4586525" cy="4043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729598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51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evitar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problemas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llamar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otras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recomendable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todas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antes del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main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variables simples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reciben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llamadas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“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valor”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(en contra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otros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lenguajes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FORTRAN,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donde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llamadas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“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referencia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”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significa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hace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copia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valor de la variable,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modifica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modificada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original.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Esto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no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ocurre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con los arrays,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sí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modificados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ya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recibe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modificar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variables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hay dos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posibilidades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Pasar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puntero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 la variable, 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utilizar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variables </a:t>
            </a:r>
            <a:r>
              <a:rPr lang="en-US" sz="1600" dirty="0" err="1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externas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8553040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Variables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externas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52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 variables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externas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definen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antes del main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luego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utilicen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usando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comando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FF6600"/>
                </a:solidFill>
                <a:latin typeface="Century Gothic" charset="0"/>
                <a:cs typeface="Century Gothic" charset="0"/>
                <a:sym typeface="Century Gothic" charset="0"/>
              </a:rPr>
              <a:t>extern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power</a:t>
            </a:r>
            <a:r>
              <a:rPr lang="en-US" sz="1600" dirty="0" smtClean="0">
                <a:solidFill>
                  <a:srgbClr val="000090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reescribir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pasando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externa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3" name="Picture 2" descr="Screen Shot 2016-03-04 at 11.11.49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3068960"/>
            <a:ext cx="2963917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87824" y="3212976"/>
            <a:ext cx="2853040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Primera</a:t>
            </a:r>
            <a:r>
              <a:rPr lang="en-US" sz="1000" dirty="0" smtClean="0">
                <a:solidFill>
                  <a:srgbClr val="0000FF"/>
                </a:solidFill>
              </a:rPr>
              <a:t> </a:t>
            </a:r>
            <a:r>
              <a:rPr lang="en-US" sz="1000" dirty="0" err="1" smtClean="0">
                <a:solidFill>
                  <a:srgbClr val="0000FF"/>
                </a:solidFill>
              </a:rPr>
              <a:t>definición</a:t>
            </a:r>
            <a:r>
              <a:rPr lang="en-US" sz="1000" dirty="0" smtClean="0">
                <a:solidFill>
                  <a:srgbClr val="0000FF"/>
                </a:solidFill>
              </a:rPr>
              <a:t> de la variable </a:t>
            </a:r>
            <a:r>
              <a:rPr lang="en-US" sz="1000" dirty="0" err="1" smtClean="0">
                <a:solidFill>
                  <a:srgbClr val="0000FF"/>
                </a:solidFill>
              </a:rPr>
              <a:t>externa</a:t>
            </a:r>
            <a:r>
              <a:rPr lang="en-US" sz="1000" dirty="0" smtClean="0">
                <a:solidFill>
                  <a:srgbClr val="0000FF"/>
                </a:solidFill>
              </a:rPr>
              <a:t> n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75856" y="3933056"/>
            <a:ext cx="3991234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Declaración</a:t>
            </a:r>
            <a:r>
              <a:rPr lang="en-US" sz="1000" dirty="0" smtClean="0">
                <a:solidFill>
                  <a:srgbClr val="0000FF"/>
                </a:solidFill>
              </a:rPr>
              <a:t> de la variable n </a:t>
            </a:r>
            <a:r>
              <a:rPr lang="en-US" sz="1000" dirty="0" err="1" smtClean="0">
                <a:solidFill>
                  <a:srgbClr val="0000FF"/>
                </a:solidFill>
              </a:rPr>
              <a:t>como</a:t>
            </a:r>
            <a:r>
              <a:rPr lang="en-US" sz="1000" dirty="0" smtClean="0">
                <a:solidFill>
                  <a:srgbClr val="0000FF"/>
                </a:solidFill>
              </a:rPr>
              <a:t> </a:t>
            </a:r>
            <a:r>
              <a:rPr lang="en-US" sz="1000" dirty="0" err="1" smtClean="0">
                <a:solidFill>
                  <a:srgbClr val="0000FF"/>
                </a:solidFill>
              </a:rPr>
              <a:t>externa</a:t>
            </a:r>
            <a:r>
              <a:rPr lang="en-US" sz="1000" dirty="0" smtClean="0">
                <a:solidFill>
                  <a:srgbClr val="0000FF"/>
                </a:solidFill>
              </a:rPr>
              <a:t> en la </a:t>
            </a:r>
            <a:r>
              <a:rPr lang="en-US" sz="1000" dirty="0" err="1" smtClean="0">
                <a:solidFill>
                  <a:srgbClr val="0000FF"/>
                </a:solidFill>
              </a:rPr>
              <a:t>función</a:t>
            </a:r>
            <a:r>
              <a:rPr lang="en-US" sz="1000" dirty="0" smtClean="0">
                <a:solidFill>
                  <a:srgbClr val="0000FF"/>
                </a:solidFill>
              </a:rPr>
              <a:t> main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47864" y="5517232"/>
            <a:ext cx="4070345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Declaración</a:t>
            </a:r>
            <a:r>
              <a:rPr lang="en-US" sz="1000" dirty="0" smtClean="0">
                <a:solidFill>
                  <a:srgbClr val="0000FF"/>
                </a:solidFill>
              </a:rPr>
              <a:t> de la variable n </a:t>
            </a:r>
            <a:r>
              <a:rPr lang="en-US" sz="1000" dirty="0" err="1" smtClean="0">
                <a:solidFill>
                  <a:srgbClr val="0000FF"/>
                </a:solidFill>
              </a:rPr>
              <a:t>como</a:t>
            </a:r>
            <a:r>
              <a:rPr lang="en-US" sz="1000" dirty="0" smtClean="0">
                <a:solidFill>
                  <a:srgbClr val="0000FF"/>
                </a:solidFill>
              </a:rPr>
              <a:t> </a:t>
            </a:r>
            <a:r>
              <a:rPr lang="en-US" sz="1000" dirty="0" err="1" smtClean="0">
                <a:solidFill>
                  <a:srgbClr val="0000FF"/>
                </a:solidFill>
              </a:rPr>
              <a:t>externa</a:t>
            </a:r>
            <a:r>
              <a:rPr lang="en-US" sz="1000" dirty="0" smtClean="0">
                <a:solidFill>
                  <a:srgbClr val="0000FF"/>
                </a:solidFill>
              </a:rPr>
              <a:t> en la </a:t>
            </a:r>
            <a:r>
              <a:rPr lang="en-US" sz="1000" dirty="0" err="1" smtClean="0">
                <a:solidFill>
                  <a:srgbClr val="0000FF"/>
                </a:solidFill>
              </a:rPr>
              <a:t>función</a:t>
            </a:r>
            <a:r>
              <a:rPr lang="en-US" sz="1000" dirty="0" smtClean="0">
                <a:solidFill>
                  <a:srgbClr val="0000FF"/>
                </a:solidFill>
              </a:rPr>
              <a:t> power</a:t>
            </a:r>
            <a:endParaRPr lang="en-US" sz="10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043226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53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También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modificar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variables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recibe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mediante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uso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Reescribimos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rgbClr val="0000FF"/>
                </a:solidFill>
                <a:latin typeface="Century Gothic" charset="0"/>
                <a:cs typeface="Century Gothic" charset="0"/>
                <a:sym typeface="Century Gothic" charset="0"/>
              </a:rPr>
              <a:t>power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dando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salida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3-15 at 10.42.3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840" y="3068960"/>
            <a:ext cx="2880320" cy="3415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190057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Arrays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54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Los arrays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sí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entran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y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modificar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caso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vectores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(1-dim) hay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indicar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sólo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nombre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del array 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tener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cuidado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no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escribir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fuera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su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rango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siguiente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calcula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cuadados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números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enteros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entre 1 y 10 y los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almacena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el vector v[].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16016" y="4653136"/>
            <a:ext cx="4200489" cy="526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¿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Qué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pasaría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si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la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función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intentase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</a:p>
          <a:p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escribir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más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allá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del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tamaño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 del </a:t>
            </a:r>
            <a:r>
              <a:rPr lang="en-US" sz="1600" dirty="0" err="1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fichero</a:t>
            </a:r>
            <a:r>
              <a:rPr lang="en-US" sz="1600" dirty="0">
                <a:solidFill>
                  <a:srgbClr val="595959"/>
                </a:solidFill>
                <a:latin typeface="Century Gothic" charset="0"/>
                <a:ea typeface="+mn-ea"/>
                <a:cs typeface="Century Gothic" charset="0"/>
              </a:rPr>
              <a:t>?</a:t>
            </a:r>
          </a:p>
        </p:txBody>
      </p:sp>
      <p:pic>
        <p:nvPicPr>
          <p:cNvPr id="2" name="Picture 1" descr="Screen Shot 2016-03-04 at 11.17.19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672" y="3717032"/>
            <a:ext cx="2160240" cy="288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181799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Arrays</a:t>
            </a: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55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6" name="Rectangle 2"/>
          <p:cNvSpPr txBox="1">
            <a:spLocks/>
          </p:cNvSpPr>
          <p:nvPr/>
        </p:nvSpPr>
        <p:spPr bwMode="auto">
          <a:xfrm>
            <a:off x="1259632" y="1863827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Si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pasamos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un array multidimensional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parámetro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debemos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indicar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tamaño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al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menos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todas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dimensiones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menos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última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compilador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sepa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donde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encuentra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dirección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memoria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También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se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puede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(y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recomendable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)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indicar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tamaño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todas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dimensiones</a:t>
            </a:r>
            <a:r>
              <a:rPr lang="en-US" sz="1600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b="1" dirty="0" smtClean="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Screen Shot 2016-03-04 at 11.18.06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9872" y="3140968"/>
            <a:ext cx="3861410" cy="335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228410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Estructura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típica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simulación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56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4" name="Picture 3" descr="Screen Shot 2016-03-04 at 10.57.1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514713"/>
            <a:ext cx="4173025" cy="53432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31840" y="1556792"/>
            <a:ext cx="850413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Bibliotecas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15816" y="1916832"/>
            <a:ext cx="1720042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Definición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constantes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32040" y="2492896"/>
            <a:ext cx="1651727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Definición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funciones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8" name="Right Bracket 7"/>
          <p:cNvSpPr/>
          <p:nvPr/>
        </p:nvSpPr>
        <p:spPr bwMode="auto">
          <a:xfrm>
            <a:off x="7308304" y="2996952"/>
            <a:ext cx="216024" cy="3861048"/>
          </a:xfrm>
          <a:prstGeom prst="rightBracket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45720" tIns="45720" rIns="4572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49263" rtl="0" eaLnBrk="1" fontAlgn="base" latinLnBrk="0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Lucida Sans Unicode" charset="0"/>
              <a:ea typeface="ＭＳ Ｐゴシック" charset="0"/>
              <a:cs typeface="Lucida Sans Unicode" charset="0"/>
              <a:sym typeface="Lucida Sans Unicode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57333" y="4581128"/>
            <a:ext cx="1686667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Función</a:t>
            </a:r>
            <a:r>
              <a:rPr lang="en-US" sz="1000" dirty="0" smtClean="0">
                <a:solidFill>
                  <a:srgbClr val="0000FF"/>
                </a:solidFill>
              </a:rPr>
              <a:t> principal (main)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508104" y="3501008"/>
            <a:ext cx="1695621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Declaración</a:t>
            </a:r>
            <a:r>
              <a:rPr lang="en-US" sz="1000" dirty="0" smtClean="0">
                <a:solidFill>
                  <a:srgbClr val="0000FF"/>
                </a:solidFill>
              </a:rPr>
              <a:t> de variables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9" name="Right Bracket 8"/>
          <p:cNvSpPr/>
          <p:nvPr/>
        </p:nvSpPr>
        <p:spPr bwMode="auto">
          <a:xfrm>
            <a:off x="5364088" y="3068960"/>
            <a:ext cx="72008" cy="1080120"/>
          </a:xfrm>
          <a:prstGeom prst="rightBracket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45720" tIns="45720" rIns="4572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49263" rtl="0" eaLnBrk="1" fontAlgn="base" latinLnBrk="0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Lucida Sans Unicode" charset="0"/>
              <a:ea typeface="ＭＳ Ｐゴシック" charset="0"/>
              <a:cs typeface="Lucida Sans Unicode" charset="0"/>
              <a:sym typeface="Lucida Sans Unicode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39952" y="4725144"/>
            <a:ext cx="1925114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Lectura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datos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entrada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04048" y="5373216"/>
            <a:ext cx="758929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Cómputo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788024" y="4293096"/>
            <a:ext cx="1864688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Declaración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ficheros</a:t>
            </a:r>
            <a:r>
              <a:rPr lang="en-US" sz="1000" dirty="0" smtClean="0">
                <a:solidFill>
                  <a:srgbClr val="0000FF"/>
                </a:solidFill>
              </a:rPr>
              <a:t> i/o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13" name="Right Bracket 12"/>
          <p:cNvSpPr/>
          <p:nvPr/>
        </p:nvSpPr>
        <p:spPr bwMode="auto">
          <a:xfrm>
            <a:off x="4788024" y="5085184"/>
            <a:ext cx="72008" cy="792088"/>
          </a:xfrm>
          <a:prstGeom prst="rightBracket">
            <a:avLst/>
          </a:prstGeom>
          <a:solidFill>
            <a:srgbClr val="FFFFFF"/>
          </a:solidFill>
          <a:ln w="254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45720" tIns="45720" rIns="4572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49263" rtl="0" eaLnBrk="1" fontAlgn="base" latinLnBrk="0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Lucida Sans Unicode" charset="0"/>
              <a:ea typeface="ＭＳ Ｐゴシック" charset="0"/>
              <a:cs typeface="Lucida Sans Unicode" charset="0"/>
              <a:sym typeface="Lucida Sans Unicode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7824" y="6093296"/>
            <a:ext cx="1127182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Salida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datos</a:t>
            </a:r>
            <a:endParaRPr lang="en-US" sz="1000" dirty="0">
              <a:solidFill>
                <a:srgbClr val="0000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15816" y="6453336"/>
            <a:ext cx="1289173" cy="229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 smtClean="0">
                <a:solidFill>
                  <a:srgbClr val="0000FF"/>
                </a:solidFill>
              </a:rPr>
              <a:t>Cierre</a:t>
            </a:r>
            <a:r>
              <a:rPr lang="en-US" sz="1000" dirty="0" smtClean="0">
                <a:solidFill>
                  <a:srgbClr val="0000FF"/>
                </a:solidFill>
              </a:rPr>
              <a:t> de </a:t>
            </a:r>
            <a:r>
              <a:rPr lang="en-US" sz="1000" dirty="0" err="1" smtClean="0">
                <a:solidFill>
                  <a:srgbClr val="0000FF"/>
                </a:solidFill>
              </a:rPr>
              <a:t>ficheros</a:t>
            </a:r>
            <a:endParaRPr lang="en-US" sz="10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2733969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3600" dirty="0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57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8" name="Rectangle 2"/>
          <p:cNvSpPr txBox="1">
            <a:spLocks/>
          </p:cNvSpPr>
          <p:nvPr/>
        </p:nvSpPr>
        <p:spPr bwMode="auto">
          <a:xfrm>
            <a:off x="1259632" y="2492896"/>
            <a:ext cx="7239000" cy="3024336"/>
          </a:xfrm>
          <a:prstGeom prst="rect">
            <a:avLst/>
          </a:prstGeom>
          <a:extLst>
            <a:ext uri="{FAA26D3D-D897-4be2-8F04-BA451C77F1D7}">
              <ma14:placeholderFlag xmlns:ma14="http://schemas.microsoft.com/office/mac/drawingml/2011/main" val="1"/>
            </a:ext>
          </a:ex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Calcule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distribución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radial (FDR)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los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orbitales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1s, 2s y 2p y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normalice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resultado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usando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método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Simpson. La FDR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valor del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módulo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al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cuadrado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función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ondas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multiplicado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4πr</a:t>
            </a:r>
            <a:r>
              <a:rPr lang="en-US" sz="1600" baseline="300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2.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Las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funciones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onda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son </a:t>
            </a: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baseline="300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baseline="300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baseline="300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888" y="3717032"/>
            <a:ext cx="2667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06013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Grp="1"/>
          </p:cNvSpPr>
          <p:nvPr>
            <p:ph type="title" idx="4294967295"/>
          </p:nvPr>
        </p:nvSpPr>
        <p:spPr bwMode="auto">
          <a:xfrm>
            <a:off x="1066800" y="379413"/>
            <a:ext cx="7620000" cy="1144587"/>
          </a:xfrm>
          <a:prstGeom prst="rect">
            <a:avLst/>
          </a:prstGeom>
          <a:solidFill>
            <a:srgbClr val="333333"/>
          </a:solidFill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 anchor="ctr"/>
          <a:lstStyle/>
          <a:p>
            <a:pPr algn="l" defTabSz="914400" eaLnBrk="1">
              <a:lnSpc>
                <a:spcPct val="100000"/>
              </a:lnSpc>
              <a:defRPr/>
            </a:pPr>
            <a:r>
              <a:rPr lang="en-US" sz="3600" dirty="0" err="1" smtClean="0">
                <a:solidFill>
                  <a:srgbClr val="FFFFFF"/>
                </a:solidFill>
                <a:latin typeface="Century Gothic" charset="0"/>
                <a:cs typeface="Century Gothic" charset="0"/>
                <a:sym typeface="Century Gothic" charset="0"/>
              </a:rPr>
              <a:t>Problemas</a:t>
            </a:r>
            <a:endParaRPr lang="en-US" sz="3600" dirty="0" smtClean="0">
              <a:solidFill>
                <a:srgbClr val="FFFFFF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123" name="Rectangle 3"/>
          <p:cNvSpPr>
            <a:spLocks/>
          </p:cNvSpPr>
          <p:nvPr/>
        </p:nvSpPr>
        <p:spPr bwMode="auto">
          <a:xfrm>
            <a:off x="8937625" y="6642100"/>
            <a:ext cx="160338" cy="217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45720" rIns="45720" anchor="ctr">
            <a:spAutoFit/>
          </a:bodyPr>
          <a:lstStyle/>
          <a:p>
            <a:pPr algn="ctr" defTabSz="914400">
              <a:defRPr/>
            </a:pPr>
            <a:fld id="{0CB37837-FF8E-EC4D-9F43-99807A1B39FD}" type="slidenum">
              <a:rPr lang="en-US" sz="800">
                <a:solidFill>
                  <a:srgbClr val="595959"/>
                </a:solidFill>
                <a:latin typeface="Century Gothic" charset="0"/>
                <a:cs typeface="Century Gothic" charset="0"/>
                <a:sym typeface="Century Gothic" charset="0"/>
              </a:rPr>
              <a:pPr algn="ctr" defTabSz="914400">
                <a:defRPr/>
              </a:pPr>
              <a:t>58</a:t>
            </a:fld>
            <a:endParaRPr lang="en-US" sz="80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5" name="Rectangle 2"/>
          <p:cNvSpPr txBox="1">
            <a:spLocks/>
          </p:cNvSpPr>
          <p:nvPr/>
        </p:nvSpPr>
        <p:spPr bwMode="auto">
          <a:xfrm>
            <a:off x="1295400" y="1752600"/>
            <a:ext cx="7239000" cy="49887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algn="just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FF6600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Euphemia UCAS" charset="0"/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700" dirty="0" smtClean="0">
              <a:solidFill>
                <a:srgbClr val="595959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sp>
        <p:nvSpPr>
          <p:cNvPr id="8" name="Rectangle 2"/>
          <p:cNvSpPr txBox="1">
            <a:spLocks/>
          </p:cNvSpPr>
          <p:nvPr/>
        </p:nvSpPr>
        <p:spPr bwMode="auto">
          <a:xfrm>
            <a:off x="1259632" y="1700808"/>
            <a:ext cx="7200800" cy="4968552"/>
          </a:xfrm>
          <a:prstGeom prst="rect">
            <a:avLst/>
          </a:prstGeom>
          <a:extLst>
            <a:ext uri="{FAA26D3D-D897-4be2-8F04-BA451C77F1D7}">
              <ma14:placeholderFlag xmlns:ma14="http://schemas.microsoft.com/office/mac/drawingml/2011/main" val="1"/>
            </a:ext>
          </a:ex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46800" tIns="46800" rIns="46800" bIns="46800"/>
          <a:lstStyle>
            <a:lvl1pPr marL="339725" indent="-339725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+mn-ea"/>
                <a:cs typeface="+mn-cs"/>
                <a:sym typeface="Lucida Sans Unicode" charset="0"/>
              </a:defRPr>
            </a:lvl1pPr>
            <a:lvl2pPr marL="742950" indent="-2857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Font typeface="Euphemia UCAS" charset="0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2pPr>
            <a:lvl3pPr marL="1233488" indent="-319088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•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3pPr>
            <a:lvl4pPr marL="1727200" indent="-35560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–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4pPr>
            <a:lvl5pPr marL="2228850" indent="-400050" algn="l" defTabSz="449263" rtl="0" eaLnBrk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5pPr>
            <a:lvl6pPr marL="26860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6pPr>
            <a:lvl7pPr marL="31432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7pPr>
            <a:lvl8pPr marL="36004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8pPr>
            <a:lvl9pPr marL="4057650" indent="-400050" algn="l" defTabSz="449263" rtl="0" fontAlgn="base" hangingPunct="0">
              <a:lnSpc>
                <a:spcPct val="87000"/>
              </a:lnSpc>
              <a:spcBef>
                <a:spcPts val="700"/>
              </a:spcBef>
              <a:spcAft>
                <a:spcPct val="0"/>
              </a:spcAft>
              <a:buClr>
                <a:srgbClr val="660066"/>
              </a:buClr>
              <a:buSzPct val="100000"/>
              <a:buFont typeface="Euphemia UCAS" charset="0"/>
              <a:buChar char="»"/>
              <a:defRPr sz="2800">
                <a:solidFill>
                  <a:srgbClr val="660066"/>
                </a:solidFill>
                <a:latin typeface="+mn-lt"/>
                <a:ea typeface="Lucida Sans Unicode" charset="0"/>
                <a:cs typeface="+mn-cs"/>
                <a:sym typeface="Lucida Sans Unicode" charset="0"/>
              </a:defRPr>
            </a:lvl9pPr>
          </a:lstStyle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</a:t>
            </a: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ecuación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van der Waals: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ecuación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estado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van der Waals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extensión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ecuación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los gases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ideales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tiene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cuenta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algunos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aspectos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la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desviación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los gases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reales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respecto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a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su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comportamiento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ideal. La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ecuación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en la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n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moles del gas, p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presión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T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la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temperatura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V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volumen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R la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constante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los gases (8.414) y a y b son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parámetros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fenomenológicos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dependen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cada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gas particular.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Escriba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un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programa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que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imprima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tabla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con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varias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p’s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al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menos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10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volúmenes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entre V1 y V2. Las variables a, b, T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, n, 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V1 y V2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deben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ser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entradas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por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teclado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y la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salida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debe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ir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a un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archivo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Use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para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hidrógeno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a=0.0247, b=26.6 10</a:t>
            </a:r>
            <a:r>
              <a:rPr lang="en-US" sz="1600" baseline="300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-6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Estime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número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Lucida Grande"/>
                <a:ea typeface="Lucida Grande"/>
                <a:cs typeface="Lucida Grande"/>
                <a:sym typeface="Century Gothic" charset="0"/>
              </a:rPr>
              <a:t>π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con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métodos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Montecarlo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ver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notas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  y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este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ejemplo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interactivo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http://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tprc.blogspot.com.es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/2013/01/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tecnicas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-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montecarlo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-la-</a:t>
            </a:r>
            <a:r>
              <a:rPr lang="en-US" sz="1600" dirty="0" err="1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estadistica.html</a:t>
            </a:r>
            <a:r>
              <a:rPr lang="en-US" sz="1600" dirty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)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r>
              <a:rPr lang="en-US" sz="1600" b="1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Ejercicio</a:t>
            </a:r>
            <a:r>
              <a:rPr lang="en-US" sz="1600" b="1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: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Calcule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mayor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autovalor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una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matriz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simétrica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usando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el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método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de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potencias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(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ver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las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 </a:t>
            </a:r>
            <a:r>
              <a:rPr lang="en-US" sz="1600" dirty="0" err="1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notas</a:t>
            </a:r>
            <a:r>
              <a:rPr lang="en-US" sz="1600" dirty="0" smtClean="0">
                <a:solidFill>
                  <a:schemeClr val="tx1"/>
                </a:solidFill>
                <a:latin typeface="Century Gothic" charset="0"/>
                <a:cs typeface="Century Gothic" charset="0"/>
                <a:sym typeface="Century Gothic" charset="0"/>
              </a:rPr>
              <a:t>). </a:t>
            </a: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0" indent="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None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baseline="30000" dirty="0" smtClean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baseline="300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  <a:p>
            <a:pPr marL="311150" indent="-311150" defTabSz="831850" eaLnBrk="1">
              <a:lnSpc>
                <a:spcPct val="90000"/>
              </a:lnSpc>
              <a:spcBef>
                <a:spcPts val="1800"/>
              </a:spcBef>
              <a:buClr>
                <a:srgbClr val="A2C816"/>
              </a:buClr>
              <a:buFont typeface="Wingdings 2" charset="0"/>
              <a:buChar char=""/>
              <a:tabLst>
                <a:tab pos="393700" algn="l"/>
                <a:tab pos="800100" algn="l"/>
                <a:tab pos="1206500" algn="l"/>
                <a:tab pos="1625600" algn="l"/>
                <a:tab pos="2032000" algn="l"/>
                <a:tab pos="2438400" algn="l"/>
                <a:tab pos="2844800" algn="l"/>
                <a:tab pos="3251200" algn="l"/>
                <a:tab pos="3670300" algn="l"/>
                <a:tab pos="4076700" algn="l"/>
                <a:tab pos="4483100" algn="l"/>
                <a:tab pos="4889500" algn="l"/>
                <a:tab pos="5295900" algn="l"/>
                <a:tab pos="5715000" algn="l"/>
                <a:tab pos="6121400" algn="l"/>
                <a:tab pos="6527800" algn="l"/>
                <a:tab pos="6934200" algn="l"/>
                <a:tab pos="7340600" algn="l"/>
                <a:tab pos="7747000" algn="l"/>
                <a:tab pos="8166100" algn="l"/>
              </a:tabLst>
              <a:defRPr/>
            </a:pPr>
            <a:endParaRPr lang="en-US" sz="1600" baseline="30000" dirty="0">
              <a:solidFill>
                <a:schemeClr val="tx1"/>
              </a:solidFill>
              <a:latin typeface="Century Gothic" charset="0"/>
              <a:cs typeface="Century Gothic" charset="0"/>
              <a:sym typeface="Century Gothic" charset="0"/>
            </a:endParaRPr>
          </a:p>
        </p:txBody>
      </p:sp>
      <p:pic>
        <p:nvPicPr>
          <p:cNvPr id="2" name="Picture 1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888" y="2852936"/>
            <a:ext cx="24765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31271"/>
      </p:ext>
    </p:extLst>
  </p:cSld>
  <p:clrMapOvr>
    <a:masterClrMapping/>
  </p:clrMapOvr>
  <p:transition xmlns:p14="http://schemas.microsoft.com/office/powerpoint/2010/main"/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0000FF"/>
      </a:hlink>
      <a:folHlink>
        <a:srgbClr val="FF00FF"/>
      </a:folHlink>
    </a:clrScheme>
    <a:fontScheme name="Tema de Office">
      <a:majorFont>
        <a:latin typeface="Lucida Sans Unicode"/>
        <a:ea typeface="ＭＳ Ｐゴシック"/>
        <a:cs typeface="Lucida Sans Unicode"/>
      </a:majorFont>
      <a:minorFont>
        <a:latin typeface="Lucida Sans Unicode"/>
        <a:ea typeface="ＭＳ Ｐゴシック"/>
        <a:cs typeface="Lucida Sans Unicod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45720" tIns="45720" rIns="4572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449263" rtl="0" eaLnBrk="1" fontAlgn="base" latinLnBrk="0" hangingPunct="0">
          <a:lnSpc>
            <a:spcPct val="87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Lucida Sans Unicode" charset="0"/>
            <a:ea typeface="ＭＳ Ｐゴシック" charset="0"/>
            <a:cs typeface="Lucida Sans Unicode" charset="0"/>
            <a:sym typeface="Lucida Sans Unicode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45720" tIns="45720" rIns="4572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449263" rtl="0" eaLnBrk="1" fontAlgn="base" latinLnBrk="0" hangingPunct="0">
          <a:lnSpc>
            <a:spcPct val="87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Lucida Sans Unicode" charset="0"/>
            <a:ea typeface="ＭＳ Ｐゴシック" charset="0"/>
            <a:cs typeface="Lucida Sans Unicode" charset="0"/>
            <a:sym typeface="Lucida Sans Unicode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Tema de Office - Default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0000FF"/>
      </a:hlink>
      <a:folHlink>
        <a:srgbClr val="FF00FF"/>
      </a:folHlink>
    </a:clrScheme>
    <a:fontScheme name="Tema de Office - Default">
      <a:majorFont>
        <a:latin typeface="Lucida Sans Unicode"/>
        <a:ea typeface="ＭＳ Ｐゴシック"/>
        <a:cs typeface="Lucida Sans Unicode"/>
      </a:majorFont>
      <a:minorFont>
        <a:latin typeface="Lucida Sans Unicode"/>
        <a:ea typeface="ＭＳ Ｐゴシック"/>
        <a:cs typeface="Lucida Sans Unicod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45720" tIns="45720" rIns="4572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449263" rtl="0" eaLnBrk="1" fontAlgn="base" latinLnBrk="0" hangingPunct="0">
          <a:lnSpc>
            <a:spcPct val="87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Lucida Sans Unicode" charset="0"/>
            <a:ea typeface="ＭＳ Ｐゴシック" charset="0"/>
            <a:cs typeface="Lucida Sans Unicode" charset="0"/>
            <a:sym typeface="Lucida Sans Unicode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FFFFFF"/>
        </a:solidFill>
        <a:ln w="254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45720" tIns="45720" rIns="4572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449263" rtl="0" eaLnBrk="1" fontAlgn="base" latinLnBrk="0" hangingPunct="0">
          <a:lnSpc>
            <a:spcPct val="87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Lucida Sans Unicode" charset="0"/>
            <a:ea typeface="ＭＳ Ｐゴシック" charset="0"/>
            <a:cs typeface="Lucida Sans Unicode" charset="0"/>
            <a:sym typeface="Lucida Sans Unicode" charset="0"/>
          </a:defRPr>
        </a:defPPr>
      </a:lst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0000FF"/>
      </a:hlink>
      <a:folHlink>
        <a:srgbClr val="FF00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2141</TotalTime>
  <Words>4176</Words>
  <Application>Microsoft Macintosh PowerPoint</Application>
  <PresentationFormat>On-screen Show (4:3)</PresentationFormat>
  <Paragraphs>819</Paragraphs>
  <Slides>58</Slides>
  <Notes>0</Notes>
  <HiddenSlides>0</HiddenSlides>
  <MMClips>0</MMClips>
  <ScaleCrop>false</ScaleCrop>
  <HeadingPairs>
    <vt:vector size="6" baseType="variant"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Tema de Office</vt:lpstr>
      <vt:lpstr>Tema de Office - Default</vt:lpstr>
      <vt:lpstr>Equation</vt:lpstr>
      <vt:lpstr>PowerPoint Presentation</vt:lpstr>
      <vt:lpstr>Bibliografía:</vt:lpstr>
      <vt:lpstr>Estructura del curso</vt:lpstr>
      <vt:lpstr>Introducción</vt:lpstr>
      <vt:lpstr>Programas</vt:lpstr>
      <vt:lpstr>Estructura de un programa</vt:lpstr>
      <vt:lpstr>Estructura de un programa</vt:lpstr>
      <vt:lpstr>Estructura típica de una simulación</vt:lpstr>
      <vt:lpstr>Edición, compilación y ejecución</vt:lpstr>
      <vt:lpstr>PowerPoint Presentation</vt:lpstr>
      <vt:lpstr>Edición, compilación y ejecución</vt:lpstr>
      <vt:lpstr>Variables</vt:lpstr>
      <vt:lpstr>Variables: enteras y reales</vt:lpstr>
      <vt:lpstr>Variables: doble precisión</vt:lpstr>
      <vt:lpstr>Variables: Números enteros</vt:lpstr>
      <vt:lpstr>Variables: Números en coma flotante</vt:lpstr>
      <vt:lpstr>Ejercicio: Números en coma flotante</vt:lpstr>
      <vt:lpstr>Variables: Caracteres</vt:lpstr>
      <vt:lpstr>Variables: Caracteres (Código ASCII)</vt:lpstr>
      <vt:lpstr>Operaciones aritméticas</vt:lpstr>
      <vt:lpstr>Operaciones aritméticas: Aritmética mezcla</vt:lpstr>
      <vt:lpstr>Operaciones aritméticas: Orden de prioridad</vt:lpstr>
      <vt:lpstr>Operaciones aritméticas:   &lt;math.h&gt; (biblioteca estándar)</vt:lpstr>
      <vt:lpstr>Input y output </vt:lpstr>
      <vt:lpstr>Input y output</vt:lpstr>
      <vt:lpstr>Input y output: &lt;stdio.h&gt; (Biblioteca estándar)</vt:lpstr>
      <vt:lpstr>Input y output: printf (&lt;stdio.h&gt;)</vt:lpstr>
      <vt:lpstr>Input y output: scanf (&lt;stdio.h&gt;)</vt:lpstr>
      <vt:lpstr>Input y output : printf y scanf. Ejemplo</vt:lpstr>
      <vt:lpstr>Input y output: printf y scanf. Ejemplo con diferentes formatos</vt:lpstr>
      <vt:lpstr>Input y output: ficheros.  fprintf y fscanf &lt;stdio.h&gt;</vt:lpstr>
      <vt:lpstr>Input y output: ficheros. fprintf y fscanf &lt;stdio.h&gt;</vt:lpstr>
      <vt:lpstr>Input y output: ficheros. fprintf y fscanf &lt;stdio.h&gt;</vt:lpstr>
      <vt:lpstr>Ejercicios: Input/output y aritmética</vt:lpstr>
      <vt:lpstr>Control de flujo: if - else</vt:lpstr>
      <vt:lpstr>Control de flujo: if - else</vt:lpstr>
      <vt:lpstr>Control de flujo: else if - switch</vt:lpstr>
      <vt:lpstr>Control de flujo: operadores</vt:lpstr>
      <vt:lpstr>Control de flujo: if - else</vt:lpstr>
      <vt:lpstr>Control de flujo: for</vt:lpstr>
      <vt:lpstr>Control de flujo: Ejercicios</vt:lpstr>
      <vt:lpstr>Control de flujo: Ejercicios</vt:lpstr>
      <vt:lpstr>Arrays y punteros</vt:lpstr>
      <vt:lpstr>Arrays y punteros: Declaración</vt:lpstr>
      <vt:lpstr>Arrays y punteros: Declaración</vt:lpstr>
      <vt:lpstr>Arrays y punteros: relación.</vt:lpstr>
      <vt:lpstr>Arrays y punteros:</vt:lpstr>
      <vt:lpstr>Funciones</vt:lpstr>
      <vt:lpstr>Funciones</vt:lpstr>
      <vt:lpstr>Funciones</vt:lpstr>
      <vt:lpstr>Funciones</vt:lpstr>
      <vt:lpstr>Funciones: Variables externas</vt:lpstr>
      <vt:lpstr>Funciones: Punteros</vt:lpstr>
      <vt:lpstr>Funciones: Arrays</vt:lpstr>
      <vt:lpstr>Funciones: Arrays</vt:lpstr>
      <vt:lpstr>Estructura típica de una simulación</vt:lpstr>
      <vt:lpstr>Funciones: Ejercicio</vt:lpstr>
      <vt:lpstr>Problemas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Daniel Manzano</cp:lastModifiedBy>
  <cp:revision>119</cp:revision>
  <dcterms:modified xsi:type="dcterms:W3CDTF">2019-02-27T16:05:55Z</dcterms:modified>
</cp:coreProperties>
</file>